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lvl1pPr>
    <a:lvl2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lvl2pPr>
    <a:lvl3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lvl3pPr>
    <a:lvl4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lvl4pPr>
    <a:lvl5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lvl5pPr>
    <a:lvl6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lvl6pPr>
    <a:lvl7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lvl7pPr>
    <a:lvl8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lvl8pPr>
    <a:lvl9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63227"/>
  </p:normalViewPr>
  <p:slideViewPr>
    <p:cSldViewPr snapToGrid="0">
      <p:cViewPr>
        <p:scale>
          <a:sx n="94" d="100"/>
          <a:sy n="94" d="100"/>
        </p:scale>
        <p:origin x="60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0" name="Shape 110"/>
          <p:cNvSpPr>
            <a:spLocks noGrp="1" noRot="1" noChangeAspect="1"/>
          </p:cNvSpPr>
          <p:nvPr>
            <p:ph type="sldImg"/>
          </p:nvPr>
        </p:nvSpPr>
        <p:spPr>
          <a:xfrm>
            <a:off x="1143000" y="685800"/>
            <a:ext cx="4572000" cy="3429000"/>
          </a:xfrm>
          <a:prstGeom prst="rect">
            <a:avLst/>
          </a:prstGeom>
        </p:spPr>
        <p:txBody>
          <a:bodyPr/>
          <a:lstStyle/>
          <a:p>
            <a:endParaRPr/>
          </a:p>
        </p:txBody>
      </p:sp>
      <p:sp>
        <p:nvSpPr>
          <p:cNvPr id="111" name="Shape 11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3000">
        <a:latin typeface="+mj-lt"/>
        <a:ea typeface="+mj-ea"/>
        <a:cs typeface="+mj-cs"/>
        <a:sym typeface="Arial"/>
      </a:defRPr>
    </a:lvl1pPr>
    <a:lvl2pPr indent="228600" latinLnBrk="0">
      <a:defRPr sz="3000">
        <a:latin typeface="+mj-lt"/>
        <a:ea typeface="+mj-ea"/>
        <a:cs typeface="+mj-cs"/>
        <a:sym typeface="Arial"/>
      </a:defRPr>
    </a:lvl2pPr>
    <a:lvl3pPr indent="457200" latinLnBrk="0">
      <a:defRPr sz="3000">
        <a:latin typeface="+mj-lt"/>
        <a:ea typeface="+mj-ea"/>
        <a:cs typeface="+mj-cs"/>
        <a:sym typeface="Arial"/>
      </a:defRPr>
    </a:lvl3pPr>
    <a:lvl4pPr indent="685800" latinLnBrk="0">
      <a:defRPr sz="3000">
        <a:latin typeface="+mj-lt"/>
        <a:ea typeface="+mj-ea"/>
        <a:cs typeface="+mj-cs"/>
        <a:sym typeface="Arial"/>
      </a:defRPr>
    </a:lvl4pPr>
    <a:lvl5pPr indent="914400" latinLnBrk="0">
      <a:defRPr sz="3000">
        <a:latin typeface="+mj-lt"/>
        <a:ea typeface="+mj-ea"/>
        <a:cs typeface="+mj-cs"/>
        <a:sym typeface="Arial"/>
      </a:defRPr>
    </a:lvl5pPr>
    <a:lvl6pPr indent="1143000" latinLnBrk="0">
      <a:defRPr sz="3000">
        <a:latin typeface="+mj-lt"/>
        <a:ea typeface="+mj-ea"/>
        <a:cs typeface="+mj-cs"/>
        <a:sym typeface="Arial"/>
      </a:defRPr>
    </a:lvl6pPr>
    <a:lvl7pPr indent="1371600" latinLnBrk="0">
      <a:defRPr sz="3000">
        <a:latin typeface="+mj-lt"/>
        <a:ea typeface="+mj-ea"/>
        <a:cs typeface="+mj-cs"/>
        <a:sym typeface="Arial"/>
      </a:defRPr>
    </a:lvl7pPr>
    <a:lvl8pPr indent="1600200" latinLnBrk="0">
      <a:defRPr sz="3000">
        <a:latin typeface="+mj-lt"/>
        <a:ea typeface="+mj-ea"/>
        <a:cs typeface="+mj-cs"/>
        <a:sym typeface="Arial"/>
      </a:defRPr>
    </a:lvl8pPr>
    <a:lvl9pPr indent="1828800" latinLnBrk="0">
      <a:defRPr sz="30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Shape 117"/>
          <p:cNvSpPr>
            <a:spLocks noGrp="1" noRot="1" noChangeAspect="1"/>
          </p:cNvSpPr>
          <p:nvPr>
            <p:ph type="sldImg"/>
          </p:nvPr>
        </p:nvSpPr>
        <p:spPr>
          <a:prstGeom prst="rect">
            <a:avLst/>
          </a:prstGeom>
        </p:spPr>
        <p:txBody>
          <a:bodyPr/>
          <a:lstStyle/>
          <a:p>
            <a:endParaRPr/>
          </a:p>
        </p:txBody>
      </p:sp>
      <p:sp>
        <p:nvSpPr>
          <p:cNvPr id="118" name="Shape 118"/>
          <p:cNvSpPr>
            <a:spLocks noGrp="1"/>
          </p:cNvSpPr>
          <p:nvPr>
            <p:ph type="body" sz="quarter" idx="1"/>
          </p:nvPr>
        </p:nvSpPr>
        <p:spPr>
          <a:prstGeom prst="rect">
            <a:avLst/>
          </a:prstGeom>
        </p:spPr>
        <p:txBody>
          <a:bodyPr/>
          <a:lstStyle/>
          <a:p>
            <a:r>
              <a:t>Hello everyone. My name is Xiao Li from University College Dublin, and today I’m very happy to share our work titled “Two Sides of the Same Coin: How LLMs Reveal Dual Narratives in Annual Reports.”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Shape 130"/>
          <p:cNvSpPr>
            <a:spLocks noGrp="1" noRot="1" noChangeAspect="1"/>
          </p:cNvSpPr>
          <p:nvPr>
            <p:ph type="sldImg"/>
          </p:nvPr>
        </p:nvSpPr>
        <p:spPr>
          <a:xfrm>
            <a:off x="381000" y="685800"/>
            <a:ext cx="6096000" cy="3429000"/>
          </a:xfrm>
          <a:prstGeom prst="rect">
            <a:avLst/>
          </a:prstGeom>
        </p:spPr>
        <p:txBody>
          <a:bodyPr/>
          <a:lstStyle/>
          <a:p>
            <a:endParaRPr/>
          </a:p>
        </p:txBody>
      </p:sp>
      <p:sp>
        <p:nvSpPr>
          <p:cNvPr id="131" name="Shape 131"/>
          <p:cNvSpPr>
            <a:spLocks noGrp="1"/>
          </p:cNvSpPr>
          <p:nvPr>
            <p:ph type="body" sz="quarter" idx="1"/>
          </p:nvPr>
        </p:nvSpPr>
        <p:spPr>
          <a:prstGeom prst="rect">
            <a:avLst/>
          </a:prstGeom>
        </p:spPr>
        <p:txBody>
          <a:bodyPr/>
          <a:lstStyle/>
          <a:p>
            <a:r>
              <a:rPr dirty="0"/>
              <a:t>Let me start with the challenges that motivate this work.</a:t>
            </a:r>
          </a:p>
          <a:p>
            <a:endParaRPr dirty="0"/>
          </a:p>
          <a:p>
            <a:r>
              <a:rPr dirty="0"/>
              <a:t>First, 10-K reports are extremely long and strategically written. For the S&amp;P 500, you have hundreds of pages per year, for multiple years, and often several global events overlapping. </a:t>
            </a:r>
            <a:endParaRPr lang="en-US" dirty="0"/>
          </a:p>
          <a:p>
            <a:endParaRPr lang="en-CN" dirty="0"/>
          </a:p>
          <a:p>
            <a:r>
              <a:rPr dirty="0"/>
              <a:t>Manual reading or simple keyword counting simply does not scale.</a:t>
            </a:r>
          </a:p>
          <a:p>
            <a:endParaRPr dirty="0"/>
          </a:p>
          <a:p>
            <a:r>
              <a:rPr dirty="0"/>
              <a:t>Second, most prior work treats the 10-K as one big block of text, or focuses on a single section, typically Item 1A. But in practice, the event information is distributed asymmetrically. Risk disclosures in Item 1A and managerial discussion in Item 7 often tell very different stories: one is conservative and legalistic, the other is strategic and forward-looking. If we only look at one of them, we lose this “dual narrative” structure. </a:t>
            </a:r>
          </a:p>
          <a:p>
            <a:endParaRPr dirty="0"/>
          </a:p>
          <a:p>
            <a:r>
              <a:rPr dirty="0"/>
              <a:t>Third, LLM-based scores are powerful but often opaque. </a:t>
            </a:r>
            <a:endParaRPr lang="en-US" dirty="0"/>
          </a:p>
          <a:p>
            <a:endParaRPr lang="en-CN" dirty="0"/>
          </a:p>
          <a:p>
            <a:r>
              <a:rPr dirty="0"/>
              <a:t>A typical </a:t>
            </a:r>
            <a:r>
              <a:rPr lang="en-US" dirty="0"/>
              <a:t>example</a:t>
            </a:r>
            <a:r>
              <a:rPr dirty="0"/>
              <a:t> is to ask the model: </a:t>
            </a:r>
            <a:endParaRPr lang="en-US" dirty="0"/>
          </a:p>
          <a:p>
            <a:endParaRPr lang="en-CN" dirty="0"/>
          </a:p>
          <a:p>
            <a:r>
              <a:rPr dirty="0"/>
              <a:t>“On a scale from 0 to 10, how exposed is this firm to COVID-19?” </a:t>
            </a:r>
            <a:endParaRPr lang="en-US" dirty="0"/>
          </a:p>
          <a:p>
            <a:endParaRPr lang="en-CN" dirty="0"/>
          </a:p>
          <a:p>
            <a:r>
              <a:rPr dirty="0"/>
              <a:t>You get a number, but you don’t know why </a:t>
            </a:r>
            <a:r>
              <a:rPr lang="en-US" dirty="0"/>
              <a:t>the answer is </a:t>
            </a:r>
            <a:r>
              <a:rPr dirty="0"/>
              <a:t>6 instead of a 7, which sentences drove the decision, or how to reproduce the score tomorrow. For high-stakes financial applications, that lack of traceability is a serious problem. </a:t>
            </a:r>
          </a:p>
          <a:p>
            <a:endParaRPr dirty="0"/>
          </a:p>
          <a:p>
            <a:r>
              <a:rPr dirty="0"/>
              <a:t>Our work is designed to address all three of these issues.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hape 143"/>
          <p:cNvSpPr>
            <a:spLocks noGrp="1" noRot="1" noChangeAspect="1"/>
          </p:cNvSpPr>
          <p:nvPr>
            <p:ph type="sldImg"/>
          </p:nvPr>
        </p:nvSpPr>
        <p:spPr>
          <a:prstGeom prst="rect">
            <a:avLst/>
          </a:prstGeom>
        </p:spPr>
        <p:txBody>
          <a:bodyPr/>
          <a:lstStyle/>
          <a:p>
            <a:endParaRPr/>
          </a:p>
        </p:txBody>
      </p:sp>
      <p:sp>
        <p:nvSpPr>
          <p:cNvPr id="144" name="Shape 144"/>
          <p:cNvSpPr>
            <a:spLocks noGrp="1"/>
          </p:cNvSpPr>
          <p:nvPr>
            <p:ph type="body" sz="quarter" idx="1"/>
          </p:nvPr>
        </p:nvSpPr>
        <p:spPr>
          <a:prstGeom prst="rect">
            <a:avLst/>
          </a:prstGeom>
        </p:spPr>
        <p:txBody>
          <a:bodyPr/>
          <a:lstStyle/>
          <a:p>
            <a:r>
              <a:rPr dirty="0"/>
              <a:t>So, in this paper we propose an LLM-based framework that can read full 10-K sections, not just snippets. We explicitly target global events such as COVID-19 and let the model identify and score event-specific text within Item 1A and Item 7. This allows us to scale analysis to S&amp;P 500 firms across multiple years. </a:t>
            </a:r>
          </a:p>
          <a:p>
            <a:endParaRPr dirty="0"/>
          </a:p>
          <a:p>
            <a:r>
              <a:rPr dirty="0"/>
              <a:t>Second, we introduce what we call the Dual Narrative Analysis (DNA) framework. Instead of collapsing everything into a single score, we separately quantify:</a:t>
            </a:r>
          </a:p>
          <a:p>
            <a:endParaRPr dirty="0"/>
          </a:p>
          <a:p>
            <a:r>
              <a:rPr dirty="0"/>
              <a:t>- an Impact Score from Item 1A, capturing how severe the firm describes the event’s negative consequences; and</a:t>
            </a:r>
          </a:p>
          <a:p>
            <a:endParaRPr dirty="0"/>
          </a:p>
          <a:p>
            <a:r>
              <a:rPr dirty="0"/>
              <a:t>a Response Score from Item 7, capturing how management describes concrete actions and mitigation strategies.</a:t>
            </a:r>
          </a:p>
          <a:p>
            <a:endParaRPr dirty="0"/>
          </a:p>
          <a:p>
            <a:r>
              <a:rPr dirty="0"/>
              <a:t>This gives us a richer, two-dimensional view of the same event. </a:t>
            </a:r>
          </a:p>
          <a:p>
            <a:endParaRPr dirty="0"/>
          </a:p>
          <a:p>
            <a:r>
              <a:rPr dirty="0"/>
              <a:t>Third, we replace one-shot 0–10 scoring with micro-scorecards. For each snippet, the LLM must show its work: it extracts evidence, assigns plus and minus points to specific reasons, and outputs a structured JSON object.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Shape 154"/>
          <p:cNvSpPr>
            <a:spLocks noGrp="1" noRot="1" noChangeAspect="1"/>
          </p:cNvSpPr>
          <p:nvPr>
            <p:ph type="sldImg"/>
          </p:nvPr>
        </p:nvSpPr>
        <p:spPr>
          <a:xfrm>
            <a:off x="381000" y="685800"/>
            <a:ext cx="6096000" cy="3429000"/>
          </a:xfrm>
          <a:prstGeom prst="rect">
            <a:avLst/>
          </a:prstGeom>
        </p:spPr>
        <p:txBody>
          <a:bodyPr/>
          <a:lstStyle/>
          <a:p>
            <a:endParaRPr/>
          </a:p>
        </p:txBody>
      </p:sp>
      <p:sp>
        <p:nvSpPr>
          <p:cNvPr id="155" name="Shape 155"/>
          <p:cNvSpPr>
            <a:spLocks noGrp="1"/>
          </p:cNvSpPr>
          <p:nvPr>
            <p:ph type="body" sz="quarter" idx="1"/>
          </p:nvPr>
        </p:nvSpPr>
        <p:spPr>
          <a:prstGeom prst="rect">
            <a:avLst/>
          </a:prstGeom>
        </p:spPr>
        <p:txBody>
          <a:bodyPr/>
          <a:lstStyle/>
          <a:p>
            <a:r>
              <a:rPr dirty="0"/>
              <a:t>We introduce a Chain-of-Thought (CoT) driven methodology to transform opaque LLM analysis into a transparent, verifiable semantic scoring engine.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noRot="1" noChangeAspect="1"/>
          </p:cNvSpPr>
          <p:nvPr>
            <p:ph type="sldImg"/>
          </p:nvPr>
        </p:nvSpPr>
        <p:spPr>
          <a:xfrm>
            <a:off x="381000" y="685800"/>
            <a:ext cx="6096000" cy="3429000"/>
          </a:xfrm>
          <a:prstGeom prst="rect">
            <a:avLst/>
          </a:prstGeom>
        </p:spPr>
        <p:txBody>
          <a:bodyPr/>
          <a:lstStyle/>
          <a:p>
            <a:endParaRPr/>
          </a:p>
        </p:txBody>
      </p:sp>
      <p:sp>
        <p:nvSpPr>
          <p:cNvPr id="159" name="Shape 159"/>
          <p:cNvSpPr>
            <a:spLocks noGrp="1"/>
          </p:cNvSpPr>
          <p:nvPr>
            <p:ph type="body" sz="quarter" idx="1"/>
          </p:nvPr>
        </p:nvSpPr>
        <p:spPr>
          <a:prstGeom prst="rect">
            <a:avLst/>
          </a:prstGeom>
        </p:spPr>
        <p:txBody>
          <a:bodyPr/>
          <a:lstStyle/>
          <a:p>
            <a:r>
              <a:rPr dirty="0"/>
              <a:t>This slide gives an overview of the DNA framework. You can think of it as turning a general-purpose LLM into a forensic risk analyst that follows a strict workflow. </a:t>
            </a:r>
          </a:p>
          <a:p>
            <a:endParaRPr dirty="0"/>
          </a:p>
          <a:p>
            <a:r>
              <a:rPr dirty="0"/>
              <a:t>We start by assembling a rich prompt that includes:</a:t>
            </a:r>
          </a:p>
          <a:p>
            <a:endParaRPr dirty="0"/>
          </a:p>
          <a:p>
            <a:r>
              <a:rPr dirty="0"/>
              <a:t>the target global event, </a:t>
            </a:r>
            <a:endParaRPr lang="en-US" dirty="0"/>
          </a:p>
          <a:p>
            <a:endParaRPr dirty="0"/>
          </a:p>
          <a:p>
            <a:r>
              <a:rPr dirty="0"/>
              <a:t>the firm’s ticker and filing date;</a:t>
            </a:r>
          </a:p>
          <a:p>
            <a:endParaRPr dirty="0"/>
          </a:p>
          <a:p>
            <a:r>
              <a:rPr dirty="0"/>
              <a:t>the full text of Item 1A or Item 7;</a:t>
            </a:r>
          </a:p>
          <a:p>
            <a:endParaRPr dirty="0"/>
          </a:p>
          <a:p>
            <a:r>
              <a:rPr dirty="0"/>
              <a:t>few-shot examples of how we want the micro-scorecards to look; and</a:t>
            </a:r>
          </a:p>
          <a:p>
            <a:endParaRPr dirty="0"/>
          </a:p>
          <a:p>
            <a:r>
              <a:rPr dirty="0"/>
              <a:t>a time-decay principle that constrains scores based on how far the filing date is from the event.</a:t>
            </a:r>
          </a:p>
          <a:p>
            <a:endParaRPr dirty="0"/>
          </a:p>
          <a:p>
            <a:r>
              <a:rPr dirty="0"/>
              <a:t>Then the model is forced into a two-step reasoning process:</a:t>
            </a:r>
          </a:p>
          <a:p>
            <a:endParaRPr dirty="0"/>
          </a:p>
          <a:p>
            <a:r>
              <a:rPr dirty="0"/>
              <a:t>Holistic Analysis – first, the LLM writes a narrative summary of how this event affects the firm, in plain language. This creates a stable macro context.</a:t>
            </a:r>
          </a:p>
          <a:p>
            <a:endParaRPr dirty="0"/>
          </a:p>
          <a:p>
            <a:r>
              <a:rPr lang="en-US" dirty="0"/>
              <a:t>After that is </a:t>
            </a:r>
            <a:r>
              <a:rPr dirty="0"/>
              <a:t>Evidence Extraction &amp; Micro-Scorecards – only after that does it go sentence by sentence, extracting snippets and assigning detailed scores with reasons.</a:t>
            </a:r>
          </a:p>
          <a:p>
            <a:endParaRPr dirty="0"/>
          </a:p>
          <a:p>
            <a:r>
              <a:rPr dirty="0"/>
              <a:t>Crucially, the LLM never computes portfolio-level metrics. It just outputs structured JSON; all aggregation is done by our backend code. That separation is key for reproducibility.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Shape 176"/>
          <p:cNvSpPr>
            <a:spLocks noGrp="1" noRot="1" noChangeAspect="1"/>
          </p:cNvSpPr>
          <p:nvPr>
            <p:ph type="sldImg"/>
          </p:nvPr>
        </p:nvSpPr>
        <p:spPr>
          <a:xfrm>
            <a:off x="381000" y="685800"/>
            <a:ext cx="6096000" cy="3429000"/>
          </a:xfrm>
          <a:prstGeom prst="rect">
            <a:avLst/>
          </a:prstGeom>
        </p:spPr>
        <p:txBody>
          <a:bodyPr/>
          <a:lstStyle/>
          <a:p>
            <a:endParaRPr/>
          </a:p>
        </p:txBody>
      </p:sp>
      <p:sp>
        <p:nvSpPr>
          <p:cNvPr id="177" name="Shape 177"/>
          <p:cNvSpPr>
            <a:spLocks noGrp="1"/>
          </p:cNvSpPr>
          <p:nvPr>
            <p:ph type="body" sz="quarter" idx="1"/>
          </p:nvPr>
        </p:nvSpPr>
        <p:spPr>
          <a:prstGeom prst="rect">
            <a:avLst/>
          </a:prstGeom>
        </p:spPr>
        <p:txBody>
          <a:bodyPr/>
          <a:lstStyle/>
          <a:p>
            <a:r>
              <a:rPr dirty="0"/>
              <a:t>Here we zoom into the micro-scorecard itself, which has three levels. </a:t>
            </a:r>
          </a:p>
          <a:p>
            <a:endParaRPr dirty="0"/>
          </a:p>
          <a:p>
            <a:r>
              <a:rPr dirty="0"/>
              <a:t>Level 1: Item category. The model is grounded in the section we feed it – Item 1A for risk factors, Item 7 for MD&amp;A. We keep them separate throughout the pipeline.</a:t>
            </a:r>
          </a:p>
          <a:p>
            <a:endParaRPr dirty="0"/>
          </a:p>
          <a:p>
            <a:r>
              <a:rPr dirty="0"/>
              <a:t>Level 2: Snippet identification. Within each item, the LLM must locate the specific snippets that talk about the target event. For</a:t>
            </a:r>
            <a:r>
              <a:rPr lang="en-US" dirty="0"/>
              <a:t> </a:t>
            </a:r>
            <a:r>
              <a:rPr lang="en-US" dirty="0" err="1"/>
              <a:t>axample</a:t>
            </a:r>
            <a:r>
              <a:rPr dirty="0"/>
              <a:t> COVID-19, these might be paragraphs about supply chain disruptions, workforce issues, or demand shocks.</a:t>
            </a:r>
          </a:p>
          <a:p>
            <a:endParaRPr dirty="0"/>
          </a:p>
          <a:p>
            <a:r>
              <a:rPr dirty="0"/>
              <a:t>Level 3: Component scoring. At the most granular level, each snippet is broken into “reasons” – small semantic components. For each reason, the model assigns a positive or negative point: positive points for aggravating factors (e.g., “material adverse impact on revenue”), negative points for mitigating language (e.g., “no significant operational disruption”).</a:t>
            </a:r>
          </a:p>
          <a:p>
            <a:endParaRPr dirty="0"/>
          </a:p>
          <a:p>
            <a:r>
              <a:rPr dirty="0"/>
              <a:t>We then aggregate bottom-up: reason-level points roll up to a snippet score; snippet scores roll up to an Item score. At every step we keep the text evidence and the reasoning explanation. So if a regulator or an auditor asks “Why is this firm’s COVID impact score so high?”, we can literally trace it back to sentences in the 10-K.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Shape 195"/>
          <p:cNvSpPr>
            <a:spLocks noGrp="1" noRot="1" noChangeAspect="1"/>
          </p:cNvSpPr>
          <p:nvPr>
            <p:ph type="sldImg"/>
          </p:nvPr>
        </p:nvSpPr>
        <p:spPr>
          <a:xfrm>
            <a:off x="381000" y="685800"/>
            <a:ext cx="6096000" cy="3429000"/>
          </a:xfrm>
          <a:prstGeom prst="rect">
            <a:avLst/>
          </a:prstGeom>
        </p:spPr>
        <p:txBody>
          <a:bodyPr/>
          <a:lstStyle/>
          <a:p>
            <a:endParaRPr/>
          </a:p>
        </p:txBody>
      </p:sp>
      <p:sp>
        <p:nvSpPr>
          <p:cNvPr id="196" name="Shape 196"/>
          <p:cNvSpPr>
            <a:spLocks noGrp="1"/>
          </p:cNvSpPr>
          <p:nvPr>
            <p:ph type="body" sz="quarter" idx="1"/>
          </p:nvPr>
        </p:nvSpPr>
        <p:spPr>
          <a:prstGeom prst="rect">
            <a:avLst/>
          </a:prstGeom>
        </p:spPr>
        <p:txBody>
          <a:bodyPr/>
          <a:lstStyle/>
          <a:p>
            <a:r>
              <a:rPr dirty="0"/>
              <a:t>Now, how do we actually quantify the “two sides of the coin”?</a:t>
            </a:r>
          </a:p>
          <a:p>
            <a:endParaRPr dirty="0"/>
          </a:p>
          <a:p>
            <a:r>
              <a:rPr dirty="0"/>
              <a:t>We define two distinct metrics for each firm–event pair. </a:t>
            </a:r>
          </a:p>
          <a:p>
            <a:endParaRPr dirty="0"/>
          </a:p>
          <a:p>
            <a:r>
              <a:rPr lang="en-US" dirty="0"/>
              <a:t>First one is </a:t>
            </a:r>
            <a:r>
              <a:rPr dirty="0"/>
              <a:t>The Impact Score is derived from Item 1A. It measures how seriously the firm describes the negative consequences of the event. If the text says, </a:t>
            </a:r>
            <a:endParaRPr lang="en-US" dirty="0"/>
          </a:p>
          <a:p>
            <a:endParaRPr lang="en-CN" dirty="0"/>
          </a:p>
          <a:p>
            <a:r>
              <a:rPr dirty="0"/>
              <a:t>for example, that COVID-19 has materially harmed operations and could continue to do so, with concrete channels and potential losses, the snippet will receive high positive points. If the language is more generic or vague, the score is lower.</a:t>
            </a:r>
          </a:p>
          <a:p>
            <a:endParaRPr dirty="0"/>
          </a:p>
          <a:p>
            <a:r>
              <a:rPr dirty="0"/>
              <a:t>The Response Score comes from Item 7. This one is more nuanced:</a:t>
            </a:r>
          </a:p>
          <a:p>
            <a:endParaRPr dirty="0"/>
          </a:p>
          <a:p>
            <a:r>
              <a:rPr dirty="0"/>
              <a:t>A high positive Response Score means the narrative is still dominated by negative impacts, with little discussion of mitigation.</a:t>
            </a:r>
          </a:p>
          <a:p>
            <a:endParaRPr dirty="0"/>
          </a:p>
          <a:p>
            <a:r>
              <a:rPr dirty="0"/>
              <a:t>A score around zero means the firm is acknowledging the event but balancing impact and response.</a:t>
            </a:r>
          </a:p>
          <a:p>
            <a:endParaRPr dirty="0"/>
          </a:p>
          <a:p>
            <a:r>
              <a:rPr dirty="0"/>
              <a:t>A negative Response Score indicates that the text is dominated by mitigating actions and countermeasures – essentially, management is saying: “We have done a lot to control this risk.” </a:t>
            </a:r>
          </a:p>
          <a:p>
            <a:endParaRPr dirty="0"/>
          </a:p>
          <a:p>
            <a:r>
              <a:rPr dirty="0"/>
              <a:t>We also apply the Time Decay Principle so that an event’s impact naturally decays over time, unless the firm explicitly states long-term or ongoing effects. This prevents us from giving very high scores to legacy events that the firm barely considers relevant anymore.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Shape 207"/>
          <p:cNvSpPr>
            <a:spLocks noGrp="1" noRot="1" noChangeAspect="1"/>
          </p:cNvSpPr>
          <p:nvPr>
            <p:ph type="sldImg"/>
          </p:nvPr>
        </p:nvSpPr>
        <p:spPr>
          <a:xfrm>
            <a:off x="381000" y="685800"/>
            <a:ext cx="6096000" cy="3429000"/>
          </a:xfrm>
          <a:prstGeom prst="rect">
            <a:avLst/>
          </a:prstGeom>
        </p:spPr>
        <p:txBody>
          <a:bodyPr/>
          <a:lstStyle/>
          <a:p>
            <a:endParaRPr/>
          </a:p>
        </p:txBody>
      </p:sp>
      <p:sp>
        <p:nvSpPr>
          <p:cNvPr id="208" name="Shape 208"/>
          <p:cNvSpPr>
            <a:spLocks noGrp="1"/>
          </p:cNvSpPr>
          <p:nvPr>
            <p:ph type="body" sz="quarter" idx="1"/>
          </p:nvPr>
        </p:nvSpPr>
        <p:spPr>
          <a:prstGeom prst="rect">
            <a:avLst/>
          </a:prstGeom>
        </p:spPr>
        <p:txBody>
          <a:bodyPr/>
          <a:lstStyle/>
          <a:p>
            <a:r>
              <a:rPr dirty="0"/>
              <a:t>To make this concrete, we </a:t>
            </a:r>
            <a:r>
              <a:rPr lang="en-US" dirty="0"/>
              <a:t>do a sample case study</a:t>
            </a:r>
            <a:r>
              <a:rPr dirty="0"/>
              <a:t> on COVID-19 and analyze Impact Scores from Item 1A across S&amp;P 500 firms, using filings from 2021 to 2024, which correspond to fiscal years 2020–2023. </a:t>
            </a:r>
          </a:p>
          <a:p>
            <a:endParaRPr dirty="0"/>
          </a:p>
          <a:p>
            <a:r>
              <a:rPr dirty="0"/>
              <a:t>The violin plots on this slide show two patterns. </a:t>
            </a:r>
          </a:p>
          <a:p>
            <a:endParaRPr dirty="0"/>
          </a:p>
          <a:p>
            <a:r>
              <a:rPr dirty="0"/>
              <a:t>First, there is a clear downward trend over time. In 2020–2021, scores are high and very dispersed. Firms were facing highly uncertain shocks, depending on sector and geography. Over time, both the mean and the dispersion of the Impact Score decline. This reflects a </a:t>
            </a:r>
            <a:r>
              <a:rPr dirty="0" err="1"/>
              <a:t>normalisation</a:t>
            </a:r>
            <a:r>
              <a:rPr dirty="0"/>
              <a:t>: COVID-19 becomes a more familiar, more “priced-in” risk.</a:t>
            </a:r>
          </a:p>
          <a:p>
            <a:endParaRPr dirty="0"/>
          </a:p>
          <a:p>
            <a:r>
              <a:rPr dirty="0"/>
              <a:t>Second, when we break this down by GICS sector, we see strong heterogeneity. In the early years, sectors like real estate, consumer discretionary, and health care show particularly high impact scores – they are directly exposed to lockdowns, demand shocks, and public health uncertainty. By contrast, utilities show relatively low and stable scores, consistent with being essential services with regulated revenue.</a:t>
            </a:r>
          </a:p>
          <a:p>
            <a:endParaRPr dirty="0"/>
          </a:p>
          <a:p>
            <a:r>
              <a:rPr dirty="0"/>
              <a:t>So the Impact Score captures both the time dimension and industry structure of how firms talk about a global shock in their official risk disclosures.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Shape 219"/>
          <p:cNvSpPr>
            <a:spLocks noGrp="1" noRot="1" noChangeAspect="1"/>
          </p:cNvSpPr>
          <p:nvPr>
            <p:ph type="sldImg"/>
          </p:nvPr>
        </p:nvSpPr>
        <p:spPr>
          <a:xfrm>
            <a:off x="381000" y="685800"/>
            <a:ext cx="6096000" cy="3429000"/>
          </a:xfrm>
          <a:prstGeom prst="rect">
            <a:avLst/>
          </a:prstGeom>
        </p:spPr>
        <p:txBody>
          <a:bodyPr/>
          <a:lstStyle/>
          <a:p>
            <a:endParaRPr/>
          </a:p>
        </p:txBody>
      </p:sp>
      <p:sp>
        <p:nvSpPr>
          <p:cNvPr id="220" name="Shape 220"/>
          <p:cNvSpPr>
            <a:spLocks noGrp="1"/>
          </p:cNvSpPr>
          <p:nvPr>
            <p:ph type="body" sz="quarter" idx="1"/>
          </p:nvPr>
        </p:nvSpPr>
        <p:spPr>
          <a:prstGeom prst="rect">
            <a:avLst/>
          </a:prstGeom>
        </p:spPr>
        <p:txBody>
          <a:bodyPr/>
          <a:lstStyle/>
          <a:p>
            <a:r>
              <a:rPr dirty="0"/>
              <a:t>Next, we look at the Response Score from Item 7. Here we care less about how bad the shock is, and more about what management does and how they talk about it. </a:t>
            </a:r>
          </a:p>
          <a:p>
            <a:endParaRPr dirty="0"/>
          </a:p>
          <a:p>
            <a:r>
              <a:rPr dirty="0"/>
              <a:t>We build an interpretation grid, like the one summarized in </a:t>
            </a:r>
            <a:r>
              <a:rPr lang="en-US" dirty="0"/>
              <a:t>the</a:t>
            </a:r>
            <a:r>
              <a:rPr dirty="0"/>
              <a:t> slide:</a:t>
            </a:r>
          </a:p>
          <a:p>
            <a:endParaRPr dirty="0"/>
          </a:p>
          <a:p>
            <a:r>
              <a:rPr dirty="0"/>
              <a:t>If the score is strongly negative, for example −4, we typically see detailed mitigation: remote work arrangements, supply chain adjustments, health and safety protocols, or explicit statements that performance was not materially affected thanks to these actions.</a:t>
            </a:r>
          </a:p>
          <a:p>
            <a:endParaRPr dirty="0"/>
          </a:p>
          <a:p>
            <a:r>
              <a:rPr dirty="0"/>
              <a:t>Scores in a mildly negative range indicate partial mitigation – some cost cutting or operational adjustments, but less concrete detail.</a:t>
            </a:r>
          </a:p>
          <a:p>
            <a:endParaRPr dirty="0"/>
          </a:p>
          <a:p>
            <a:r>
              <a:rPr dirty="0"/>
              <a:t>Around zero, firms mention the event in a neutral way, perhaps noting that the market is recovering, without </a:t>
            </a:r>
            <a:r>
              <a:rPr dirty="0" err="1"/>
              <a:t>emphasising</a:t>
            </a:r>
            <a:r>
              <a:rPr dirty="0"/>
              <a:t> either damage or mitigation.</a:t>
            </a:r>
          </a:p>
          <a:p>
            <a:endParaRPr dirty="0"/>
          </a:p>
          <a:p>
            <a:r>
              <a:rPr dirty="0"/>
              <a:t>Positive scores indicate that the snippet is mostly about negative impacts, such as lost sales or disrupted supply, with no real response plan described. </a:t>
            </a:r>
          </a:p>
          <a:p>
            <a:endParaRPr dirty="0"/>
          </a:p>
          <a:p>
            <a:r>
              <a:rPr dirty="0"/>
              <a:t>icaif25-99</a:t>
            </a:r>
          </a:p>
          <a:p>
            <a:endParaRPr dirty="0"/>
          </a:p>
          <a:p>
            <a:r>
              <a:rPr dirty="0"/>
              <a:t>Empirically, we find that most snippets in Item 7 are still impact-focused and receive positive scores. Only a smaller subset of firms consistently talk in a strongly mitigating, action-oriented way. This subset turns out to be very important when we move to portfolio construction.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Shape 233"/>
          <p:cNvSpPr>
            <a:spLocks noGrp="1" noRot="1" noChangeAspect="1"/>
          </p:cNvSpPr>
          <p:nvPr>
            <p:ph type="sldImg"/>
          </p:nvPr>
        </p:nvSpPr>
        <p:spPr>
          <a:prstGeom prst="rect">
            <a:avLst/>
          </a:prstGeom>
        </p:spPr>
        <p:txBody>
          <a:bodyPr/>
          <a:lstStyle/>
          <a:p>
            <a:endParaRPr/>
          </a:p>
        </p:txBody>
      </p:sp>
      <p:sp>
        <p:nvSpPr>
          <p:cNvPr id="234" name="Shape 234"/>
          <p:cNvSpPr>
            <a:spLocks noGrp="1"/>
          </p:cNvSpPr>
          <p:nvPr>
            <p:ph type="body" sz="quarter" idx="1"/>
          </p:nvPr>
        </p:nvSpPr>
        <p:spPr>
          <a:prstGeom prst="rect">
            <a:avLst/>
          </a:prstGeom>
        </p:spPr>
        <p:txBody>
          <a:bodyPr/>
          <a:lstStyle/>
          <a:p>
            <a:r>
              <a:t>Motivated by these findings, we design a simple but disciplined portfolio strategy. </a:t>
            </a:r>
          </a:p>
          <a:p>
            <a:endParaRPr/>
          </a:p>
          <a:p>
            <a:r>
              <a:t>Previous work shows that MD&amp;A contains forward-looking information that can predict performance, but it doesn’t distinguish between firms that merely describe risks and those that clearly describe responses. Our hypothesis is:</a:t>
            </a:r>
          </a:p>
          <a:p>
            <a:endParaRPr/>
          </a:p>
          <a:p>
            <a:r>
              <a:t>Among firms that all face significant COVID-related risks, those that disclose stronger response narratives will outperform those that stay silent or purely negative. </a:t>
            </a:r>
          </a:p>
          <a:p>
            <a:endParaRPr/>
          </a:p>
          <a:p>
            <a:r>
              <a:t>To test this, we:</a:t>
            </a:r>
          </a:p>
          <a:p>
            <a:endParaRPr/>
          </a:p>
          <a:p>
            <a:r>
              <a:t>Use S&amp;P 500 firms with annual reports from 2021–2024.</a:t>
            </a:r>
          </a:p>
          <a:p>
            <a:endParaRPr/>
          </a:p>
          <a:p>
            <a:r>
              <a:t>We construct two equal-weighted portfolios of 20 stocks each:</a:t>
            </a:r>
          </a:p>
          <a:p>
            <a:endParaRPr/>
          </a:p>
          <a:p>
            <a:r>
              <a:t>a “With Response” portfolio: firms with the lowest (most negative) Response Scores – strong mitigators;</a:t>
            </a:r>
          </a:p>
          <a:p>
            <a:endParaRPr/>
          </a:p>
          <a:p>
            <a:r>
              <a:t>a “Without Response” portfolio: firms with the highest scores – little or no disclosed mitigation.</a:t>
            </a:r>
          </a:p>
          <a:p>
            <a:endParaRPr/>
          </a:p>
          <a:p>
            <a:r>
              <a:t>We hold each portfolio for one year and then rebalance. </a:t>
            </a:r>
          </a:p>
          <a:p>
            <a:endParaRPr/>
          </a:p>
          <a:p>
            <a:r>
              <a:t>This setup mirrors a realistic investor who reads 10-Ks once a year and then forms positions based on our text-based signal.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Shape 252"/>
          <p:cNvSpPr>
            <a:spLocks noGrp="1" noRot="1" noChangeAspect="1"/>
          </p:cNvSpPr>
          <p:nvPr>
            <p:ph type="sldImg"/>
          </p:nvPr>
        </p:nvSpPr>
        <p:spPr>
          <a:prstGeom prst="rect">
            <a:avLst/>
          </a:prstGeom>
        </p:spPr>
        <p:txBody>
          <a:bodyPr/>
          <a:lstStyle/>
          <a:p>
            <a:endParaRPr/>
          </a:p>
        </p:txBody>
      </p:sp>
      <p:sp>
        <p:nvSpPr>
          <p:cNvPr id="253" name="Shape 253"/>
          <p:cNvSpPr>
            <a:spLocks noGrp="1"/>
          </p:cNvSpPr>
          <p:nvPr>
            <p:ph type="body" sz="quarter" idx="1"/>
          </p:nvPr>
        </p:nvSpPr>
        <p:spPr>
          <a:prstGeom prst="rect">
            <a:avLst/>
          </a:prstGeom>
        </p:spPr>
        <p:txBody>
          <a:bodyPr/>
          <a:lstStyle/>
          <a:p>
            <a:r>
              <a:t>Over the four-year backtest, the With Response portfolio achieves an annualized return of about 13.8%, while the Without Response group achieves only around 3.8%. That’s more than a three-fold difference in annualized performance. </a:t>
            </a:r>
          </a:p>
          <a:p>
            <a:endParaRPr/>
          </a:p>
          <a:p>
            <a:r>
              <a:t>In terms of risk-adjusted returns, the Sharpe ratio for the With Response group is about 0.75, compared to 0.23 for the Without Response group, and 0.62 for the S&amp;P 500. So our strategy not only earns higher returns, but also delivers better compensation per unit of volatility.</a:t>
            </a:r>
          </a:p>
          <a:p>
            <a:endParaRPr/>
          </a:p>
          <a:p>
            <a:r>
              <a:t>Maximum drawdowns are similar across the two portfolios and slightly larger than the S&amp;P 500, which is expected because each portfolio holds only 20 stocks. But even with that concentration risk, the action-oriented portfolio still looks attractive on a risk-return basis.</a:t>
            </a:r>
          </a:p>
          <a:p>
            <a:endParaRPr/>
          </a:p>
          <a:p>
            <a:r>
              <a:t>The economic intuition is that firms willing to discuss concrete responses are signalling stronger governance, better internal control, and more mature risk management systems. Markets seem to under-react to this qualitative information, and our text-based signal is able to capture that inefficiency.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Shape 267"/>
          <p:cNvSpPr>
            <a:spLocks noGrp="1" noRot="1" noChangeAspect="1"/>
          </p:cNvSpPr>
          <p:nvPr>
            <p:ph type="sldImg"/>
          </p:nvPr>
        </p:nvSpPr>
        <p:spPr>
          <a:prstGeom prst="rect">
            <a:avLst/>
          </a:prstGeom>
        </p:spPr>
        <p:txBody>
          <a:bodyPr/>
          <a:lstStyle/>
          <a:p>
            <a:endParaRPr/>
          </a:p>
        </p:txBody>
      </p:sp>
      <p:sp>
        <p:nvSpPr>
          <p:cNvPr id="268" name="Shape 268"/>
          <p:cNvSpPr>
            <a:spLocks noGrp="1"/>
          </p:cNvSpPr>
          <p:nvPr>
            <p:ph type="body" sz="quarter" idx="1"/>
          </p:nvPr>
        </p:nvSpPr>
        <p:spPr>
          <a:prstGeom prst="rect">
            <a:avLst/>
          </a:prstGeom>
        </p:spPr>
        <p:txBody>
          <a:bodyPr/>
          <a:lstStyle/>
          <a:p>
            <a:r>
              <a:t>We propose a Dual Narrative Analysis framework that uses Chain-of-Thought prompting and micro-scorecards to turn LLMs into transparent scoring engines for long financial documents. Rather than asking for a single opaque score, we force the model to show evidence, assign reason-level points, and output structured JSON that we can audit and recompute.</a:t>
            </a:r>
          </a:p>
          <a:p>
            <a:endParaRPr/>
          </a:p>
          <a:p>
            <a:r>
              <a:t>We show that 10-K narratives naturally split into two sides:</a:t>
            </a:r>
          </a:p>
          <a:p>
            <a:endParaRPr/>
          </a:p>
          <a:p>
            <a:r>
              <a:t>Impact in Item 1A – how bad is the risk?</a:t>
            </a:r>
          </a:p>
          <a:p>
            <a:endParaRPr/>
          </a:p>
          <a:p>
            <a:r>
              <a:t>Response in Item 7 – what is management actually doing?</a:t>
            </a:r>
          </a:p>
          <a:p>
            <a:endParaRPr/>
          </a:p>
          <a:p>
            <a:r>
              <a:t>By quantifying both, we reveal a rich narrative structure around global events like COVID-19. Impact Scores capture how risk perception normalises over time and varies by sector, while Response Scores capture management quality and transparency. </a:t>
            </a:r>
          </a:p>
          <a:p>
            <a:endParaRPr/>
          </a:p>
          <a:p>
            <a:r>
              <a:t>icaif25-99</a:t>
            </a:r>
          </a:p>
          <a:p>
            <a:endParaRPr/>
          </a:p>
          <a:p>
            <a:r>
              <a:t>Finally, we link these narrative signals to asset pricing. A simple long-only strategy based on the Response Score delivers economically and statistically meaningful excess returns over four years, outperforming both a “no response” portfolio and the S&amp;P 500 benchmark.</a:t>
            </a:r>
          </a:p>
          <a:p>
            <a:endParaRPr/>
          </a:p>
          <a:p>
            <a:r>
              <a:t>In future work, we plan to jointly model Impact and Response to build full narrative trajectories, and to extend the framework beyond COVID-19 to other geopolitical and macroeconomic risks.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 name="Title Text"/>
          <p:cNvSpPr txBox="1">
            <a:spLocks noGrp="1"/>
          </p:cNvSpPr>
          <p:nvPr>
            <p:ph type="title"/>
          </p:nvPr>
        </p:nvSpPr>
        <p:spPr>
          <a:xfrm>
            <a:off x="509587" y="1122362"/>
            <a:ext cx="7162801" cy="1978026"/>
          </a:xfrm>
          <a:prstGeom prst="rect">
            <a:avLst/>
          </a:prstGeom>
        </p:spPr>
        <p:txBody>
          <a:bodyPr/>
          <a:lstStyle>
            <a:lvl1pPr>
              <a:defRPr sz="4000">
                <a:solidFill>
                  <a:srgbClr val="FFFFFF"/>
                </a:solidFill>
                <a:latin typeface="+mn-lt"/>
                <a:ea typeface="+mn-ea"/>
                <a:cs typeface="+mn-cs"/>
                <a:sym typeface="Helvetica"/>
              </a:defRPr>
            </a:lvl1pPr>
          </a:lstStyle>
          <a:p>
            <a:r>
              <a:t>Title Text</a:t>
            </a:r>
          </a:p>
        </p:txBody>
      </p:sp>
      <p:sp>
        <p:nvSpPr>
          <p:cNvPr id="12" name="Body Level One…"/>
          <p:cNvSpPr txBox="1">
            <a:spLocks noGrp="1"/>
          </p:cNvSpPr>
          <p:nvPr>
            <p:ph type="body" sz="quarter" idx="1"/>
          </p:nvPr>
        </p:nvSpPr>
        <p:spPr>
          <a:xfrm>
            <a:off x="509587" y="3279775"/>
            <a:ext cx="7162801" cy="1806575"/>
          </a:xfrm>
          <a:prstGeom prst="rect">
            <a:avLst/>
          </a:prstGeom>
        </p:spPr>
        <p:txBody>
          <a:bodyPr/>
          <a:lstStyle>
            <a:lvl1pPr indent="50800">
              <a:defRPr sz="1600">
                <a:solidFill>
                  <a:srgbClr val="000000"/>
                </a:solidFill>
                <a:latin typeface="+mn-lt"/>
                <a:ea typeface="+mn-ea"/>
                <a:cs typeface="+mn-cs"/>
                <a:sym typeface="Helvetica"/>
              </a:defRPr>
            </a:lvl1pPr>
            <a:lvl2pPr indent="50800">
              <a:defRPr sz="1600">
                <a:solidFill>
                  <a:srgbClr val="000000"/>
                </a:solidFill>
                <a:latin typeface="+mn-lt"/>
                <a:ea typeface="+mn-ea"/>
                <a:cs typeface="+mn-cs"/>
                <a:sym typeface="Helvetica"/>
              </a:defRPr>
            </a:lvl2pPr>
            <a:lvl3pPr indent="50800">
              <a:defRPr sz="1600">
                <a:solidFill>
                  <a:srgbClr val="000000"/>
                </a:solidFill>
                <a:latin typeface="+mn-lt"/>
                <a:ea typeface="+mn-ea"/>
                <a:cs typeface="+mn-cs"/>
                <a:sym typeface="Helvetica"/>
              </a:defRPr>
            </a:lvl3pPr>
            <a:lvl4pPr indent="50800">
              <a:defRPr sz="1600">
                <a:solidFill>
                  <a:srgbClr val="000000"/>
                </a:solidFill>
                <a:latin typeface="+mn-lt"/>
                <a:ea typeface="+mn-ea"/>
                <a:cs typeface="+mn-cs"/>
                <a:sym typeface="Helvetica"/>
              </a:defRPr>
            </a:lvl4pPr>
            <a:lvl5pPr indent="50800">
              <a:defRPr sz="1600">
                <a:solidFill>
                  <a:srgbClr val="000000"/>
                </a:solidFill>
                <a:latin typeface="+mn-lt"/>
                <a:ea typeface="+mn-ea"/>
                <a:cs typeface="+mn-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xfrm>
            <a:off x="8600793" y="6224244"/>
            <a:ext cx="273614" cy="264213"/>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sz="quarter"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WO_OBJECTS_WITH_TEXT">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9787" y="365125"/>
            <a:ext cx="10515601" cy="1325563"/>
          </a:xfrm>
          <a:prstGeom prst="rect">
            <a:avLst/>
          </a:prstGeom>
        </p:spPr>
        <p:txBody>
          <a:bodyPr anchor="ctr"/>
          <a:lstStyle>
            <a:lvl1pPr>
              <a:defRPr sz="4400"/>
            </a:lvl1pPr>
          </a:lstStyle>
          <a:p>
            <a:r>
              <a:t>Title Text</a:t>
            </a:r>
          </a:p>
        </p:txBody>
      </p:sp>
      <p:sp>
        <p:nvSpPr>
          <p:cNvPr id="30" name="Body Level One…"/>
          <p:cNvSpPr txBox="1">
            <a:spLocks noGrp="1"/>
          </p:cNvSpPr>
          <p:nvPr>
            <p:ph type="body" sz="quarter" idx="1"/>
          </p:nvPr>
        </p:nvSpPr>
        <p:spPr>
          <a:xfrm>
            <a:off x="839787" y="1681163"/>
            <a:ext cx="5157790" cy="823914"/>
          </a:xfrm>
          <a:prstGeom prst="rect">
            <a:avLst/>
          </a:prstGeom>
        </p:spPr>
        <p:txBody>
          <a:bodyPr anchor="b"/>
          <a:lstStyle>
            <a:lvl1pPr>
              <a:defRPr b="1">
                <a:solidFill>
                  <a:srgbClr val="595959"/>
                </a:solidFill>
              </a:defRPr>
            </a:lvl1pPr>
            <a:lvl2pPr>
              <a:defRPr b="1">
                <a:solidFill>
                  <a:srgbClr val="595959"/>
                </a:solidFill>
              </a:defRPr>
            </a:lvl2pPr>
            <a:lvl3pPr>
              <a:defRPr b="1">
                <a:solidFill>
                  <a:srgbClr val="595959"/>
                </a:solidFill>
              </a:defRPr>
            </a:lvl3pPr>
            <a:lvl4pPr>
              <a:defRPr b="1">
                <a:solidFill>
                  <a:srgbClr val="595959"/>
                </a:solidFill>
              </a:defRPr>
            </a:lvl4pPr>
            <a:lvl5pPr>
              <a:defRPr b="1">
                <a:solidFill>
                  <a:srgbClr val="595959"/>
                </a:solidFill>
              </a:defRPr>
            </a:lvl5pPr>
          </a:lstStyle>
          <a:p>
            <a:r>
              <a:t>Body Level One</a:t>
            </a:r>
          </a:p>
          <a:p>
            <a:pPr lvl="1"/>
            <a:r>
              <a:t>Body Level Two</a:t>
            </a:r>
          </a:p>
          <a:p>
            <a:pPr lvl="2"/>
            <a:r>
              <a:t>Body Level Three</a:t>
            </a:r>
          </a:p>
          <a:p>
            <a:pPr lvl="3"/>
            <a:r>
              <a:t>Body Level Four</a:t>
            </a:r>
          </a:p>
          <a:p>
            <a:pPr lvl="4"/>
            <a:r>
              <a:t>Body Level Five</a:t>
            </a:r>
          </a:p>
        </p:txBody>
      </p:sp>
      <p:sp>
        <p:nvSpPr>
          <p:cNvPr id="31" name="Google Shape;37;p6"/>
          <p:cNvSpPr txBox="1">
            <a:spLocks noGrp="1"/>
          </p:cNvSpPr>
          <p:nvPr>
            <p:ph type="body" sz="quarter" idx="21"/>
          </p:nvPr>
        </p:nvSpPr>
        <p:spPr>
          <a:xfrm>
            <a:off x="839787" y="2505075"/>
            <a:ext cx="5157788" cy="2924175"/>
          </a:xfrm>
          <a:prstGeom prst="rect">
            <a:avLst/>
          </a:prstGeom>
        </p:spPr>
        <p:txBody>
          <a:bodyPr/>
          <a:lstStyle/>
          <a:p>
            <a:pPr marL="457200" indent="-406400">
              <a:buSzPts val="2800"/>
              <a:buBlip>
                <a:blip r:embed="rId2"/>
              </a:buBlip>
              <a:defRPr sz="2800">
                <a:solidFill>
                  <a:srgbClr val="595959"/>
                </a:solidFill>
              </a:defRPr>
            </a:pPr>
            <a:endParaRPr/>
          </a:p>
        </p:txBody>
      </p:sp>
      <p:sp>
        <p:nvSpPr>
          <p:cNvPr id="32" name="Google Shape;38;p6"/>
          <p:cNvSpPr txBox="1">
            <a:spLocks noGrp="1"/>
          </p:cNvSpPr>
          <p:nvPr>
            <p:ph type="body" sz="quarter" idx="22"/>
          </p:nvPr>
        </p:nvSpPr>
        <p:spPr>
          <a:xfrm>
            <a:off x="6172200" y="1681163"/>
            <a:ext cx="5183188" cy="823914"/>
          </a:xfrm>
          <a:prstGeom prst="rect">
            <a:avLst/>
          </a:prstGeom>
        </p:spPr>
        <p:txBody>
          <a:bodyPr anchor="b"/>
          <a:lstStyle/>
          <a:p>
            <a:pPr marL="457200" indent="-406400">
              <a:buSzPts val="2800"/>
              <a:buBlip>
                <a:blip r:embed="rId2"/>
              </a:buBlip>
              <a:defRPr sz="2800">
                <a:solidFill>
                  <a:srgbClr val="595959"/>
                </a:solidFill>
              </a:defRPr>
            </a:pPr>
            <a:endParaRPr/>
          </a:p>
        </p:txBody>
      </p:sp>
      <p:sp>
        <p:nvSpPr>
          <p:cNvPr id="33" name="Google Shape;39;p6"/>
          <p:cNvSpPr txBox="1">
            <a:spLocks noGrp="1"/>
          </p:cNvSpPr>
          <p:nvPr>
            <p:ph type="body" sz="quarter" idx="23"/>
          </p:nvPr>
        </p:nvSpPr>
        <p:spPr>
          <a:xfrm>
            <a:off x="6172200" y="2505075"/>
            <a:ext cx="5183188" cy="2924175"/>
          </a:xfrm>
          <a:prstGeom prst="rect">
            <a:avLst/>
          </a:prstGeom>
        </p:spPr>
        <p:txBody>
          <a:bodyPr/>
          <a:lstStyle/>
          <a:p>
            <a:pPr marL="457200" indent="-406400">
              <a:buSzPts val="2800"/>
              <a:buBlip>
                <a:blip r:embed="rId2"/>
              </a:buBlip>
              <a:defRPr sz="2800">
                <a:solidFill>
                  <a:srgbClr val="595959"/>
                </a:solidFill>
              </a:defRPr>
            </a:pPr>
            <a:endParaRP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OBJECT_WITH_CAPTION_TEXT">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7" y="457200"/>
            <a:ext cx="3932240" cy="1600200"/>
          </a:xfrm>
          <a:prstGeom prst="rect">
            <a:avLst/>
          </a:prstGeom>
        </p:spPr>
        <p:txBody>
          <a:bodyPr/>
          <a:lstStyle>
            <a:lvl1pPr>
              <a:defRPr sz="3200"/>
            </a:lvl1pPr>
          </a:lstStyle>
          <a:p>
            <a:r>
              <a:t>Title Text</a:t>
            </a:r>
          </a:p>
        </p:txBody>
      </p:sp>
      <p:sp>
        <p:nvSpPr>
          <p:cNvPr id="49" name="Body Level One…"/>
          <p:cNvSpPr txBox="1">
            <a:spLocks noGrp="1"/>
          </p:cNvSpPr>
          <p:nvPr>
            <p:ph type="body" sz="half" idx="1"/>
          </p:nvPr>
        </p:nvSpPr>
        <p:spPr>
          <a:xfrm>
            <a:off x="5183187" y="987425"/>
            <a:ext cx="6172202" cy="4427540"/>
          </a:xfrm>
          <a:prstGeom prst="rect">
            <a:avLst/>
          </a:prstGeom>
        </p:spPr>
        <p:txBody>
          <a:bodyPr/>
          <a:lstStyle>
            <a:lvl1pPr marL="457200" indent="-431800">
              <a:buSzPts val="3200"/>
              <a:buBlip>
                <a:blip r:embed="rId2"/>
              </a:buBlip>
              <a:defRPr sz="3200">
                <a:solidFill>
                  <a:srgbClr val="595959"/>
                </a:solidFill>
              </a:defRPr>
            </a:lvl1pPr>
            <a:lvl2pPr marL="972457" indent="-464457">
              <a:buSzPts val="3200"/>
              <a:buChar char="•"/>
              <a:defRPr sz="3200">
                <a:solidFill>
                  <a:srgbClr val="595959"/>
                </a:solidFill>
              </a:defRPr>
            </a:lvl2pPr>
            <a:lvl3pPr marL="1498600" indent="-508000">
              <a:buSzPts val="3200"/>
              <a:buChar char="•"/>
              <a:defRPr sz="3200">
                <a:solidFill>
                  <a:srgbClr val="595959"/>
                </a:solidFill>
              </a:defRPr>
            </a:lvl3pPr>
            <a:lvl4pPr marL="2042160" indent="-568960">
              <a:buSzPts val="3200"/>
              <a:buChar char="•"/>
              <a:defRPr sz="3200">
                <a:solidFill>
                  <a:srgbClr val="595959"/>
                </a:solidFill>
              </a:defRPr>
            </a:lvl4pPr>
            <a:lvl5pPr marL="2499360" indent="-568960">
              <a:buSzPts val="3200"/>
              <a:buChar char="•"/>
              <a:defRPr sz="3200">
                <a:solidFill>
                  <a:srgbClr val="595959"/>
                </a:solidFill>
              </a:defRPr>
            </a:lvl5pPr>
          </a:lstStyle>
          <a:p>
            <a:r>
              <a:t>Body Level One</a:t>
            </a:r>
          </a:p>
          <a:p>
            <a:pPr lvl="1"/>
            <a:r>
              <a:t>Body Level Two</a:t>
            </a:r>
          </a:p>
          <a:p>
            <a:pPr lvl="2"/>
            <a:r>
              <a:t>Body Level Three</a:t>
            </a:r>
          </a:p>
          <a:p>
            <a:pPr lvl="3"/>
            <a:r>
              <a:t>Body Level Four</a:t>
            </a:r>
          </a:p>
          <a:p>
            <a:pPr lvl="4"/>
            <a:r>
              <a:t>Body Level Five</a:t>
            </a:r>
          </a:p>
        </p:txBody>
      </p:sp>
      <p:sp>
        <p:nvSpPr>
          <p:cNvPr id="50" name="Google Shape;55;p9"/>
          <p:cNvSpPr txBox="1">
            <a:spLocks noGrp="1"/>
          </p:cNvSpPr>
          <p:nvPr>
            <p:ph type="body" sz="quarter" idx="21"/>
          </p:nvPr>
        </p:nvSpPr>
        <p:spPr>
          <a:xfrm>
            <a:off x="839787" y="2057399"/>
            <a:ext cx="3932238" cy="3357566"/>
          </a:xfrm>
          <a:prstGeom prst="rect">
            <a:avLst/>
          </a:prstGeom>
        </p:spPr>
        <p:txBody>
          <a:bodyPr/>
          <a:lstStyle/>
          <a:p>
            <a:pPr marL="457200" indent="-406400">
              <a:buSzPts val="2800"/>
              <a:buBlip>
                <a:blip r:embed="rId2"/>
              </a:buBlip>
              <a:defRPr sz="2800">
                <a:solidFill>
                  <a:srgbClr val="595959"/>
                </a:solidFill>
              </a:defRPr>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PICTURE_WITH_CAPTION_TEXT">
    <p:spTree>
      <p:nvGrpSpPr>
        <p:cNvPr id="1" name=""/>
        <p:cNvGrpSpPr/>
        <p:nvPr/>
      </p:nvGrpSpPr>
      <p:grpSpPr>
        <a:xfrm>
          <a:off x="0" y="0"/>
          <a:ext cx="0" cy="0"/>
          <a:chOff x="0" y="0"/>
          <a:chExt cx="0" cy="0"/>
        </a:xfrm>
      </p:grpSpPr>
      <p:sp>
        <p:nvSpPr>
          <p:cNvPr id="58" name="Title Text"/>
          <p:cNvSpPr txBox="1">
            <a:spLocks noGrp="1"/>
          </p:cNvSpPr>
          <p:nvPr>
            <p:ph type="title"/>
          </p:nvPr>
        </p:nvSpPr>
        <p:spPr>
          <a:xfrm>
            <a:off x="839787" y="457200"/>
            <a:ext cx="3932240" cy="1600200"/>
          </a:xfrm>
          <a:prstGeom prst="rect">
            <a:avLst/>
          </a:prstGeom>
        </p:spPr>
        <p:txBody>
          <a:bodyPr/>
          <a:lstStyle>
            <a:lvl1pPr>
              <a:defRPr sz="3200"/>
            </a:lvl1pPr>
          </a:lstStyle>
          <a:p>
            <a:r>
              <a:t>Title Text</a:t>
            </a:r>
          </a:p>
        </p:txBody>
      </p:sp>
      <p:sp>
        <p:nvSpPr>
          <p:cNvPr id="59" name="Google Shape;61;p10"/>
          <p:cNvSpPr>
            <a:spLocks noGrp="1"/>
          </p:cNvSpPr>
          <p:nvPr>
            <p:ph type="pic" sz="half" idx="21"/>
          </p:nvPr>
        </p:nvSpPr>
        <p:spPr>
          <a:xfrm>
            <a:off x="5183187" y="987425"/>
            <a:ext cx="6172202" cy="4427540"/>
          </a:xfrm>
          <a:prstGeom prst="rect">
            <a:avLst/>
          </a:prstGeom>
        </p:spPr>
        <p:txBody>
          <a:bodyPr lIns="91439" tIns="45719" rIns="91439" bIns="45719">
            <a:noAutofit/>
          </a:bodyPr>
          <a:lstStyle/>
          <a:p>
            <a:endParaRPr/>
          </a:p>
        </p:txBody>
      </p:sp>
      <p:sp>
        <p:nvSpPr>
          <p:cNvPr id="60" name="Body Level One…"/>
          <p:cNvSpPr txBox="1">
            <a:spLocks noGrp="1"/>
          </p:cNvSpPr>
          <p:nvPr>
            <p:ph type="body" sz="quarter" idx="1"/>
          </p:nvPr>
        </p:nvSpPr>
        <p:spPr>
          <a:xfrm>
            <a:off x="839787" y="2057400"/>
            <a:ext cx="3932240" cy="3357565"/>
          </a:xfrm>
          <a:prstGeom prst="rect">
            <a:avLst/>
          </a:prstGeom>
        </p:spPr>
        <p:txBody>
          <a:bodyPr/>
          <a:lstStyle>
            <a:lvl1pPr>
              <a:lnSpc>
                <a:spcPct val="120000"/>
              </a:lnSpc>
              <a:defRPr sz="1600">
                <a:solidFill>
                  <a:srgbClr val="595959"/>
                </a:solidFill>
              </a:defRPr>
            </a:lvl1pPr>
            <a:lvl2pPr>
              <a:lnSpc>
                <a:spcPct val="120000"/>
              </a:lnSpc>
              <a:defRPr sz="1600">
                <a:solidFill>
                  <a:srgbClr val="595959"/>
                </a:solidFill>
              </a:defRPr>
            </a:lvl2pPr>
            <a:lvl3pPr>
              <a:lnSpc>
                <a:spcPct val="120000"/>
              </a:lnSpc>
              <a:defRPr sz="1600">
                <a:solidFill>
                  <a:srgbClr val="595959"/>
                </a:solidFill>
              </a:defRPr>
            </a:lvl3pPr>
            <a:lvl4pPr>
              <a:lnSpc>
                <a:spcPct val="120000"/>
              </a:lnSpc>
              <a:defRPr sz="1600">
                <a:solidFill>
                  <a:srgbClr val="595959"/>
                </a:solidFill>
              </a:defRPr>
            </a:lvl4pPr>
            <a:lvl5pPr>
              <a:lnSpc>
                <a:spcPct val="120000"/>
              </a:lnSpc>
              <a:defRPr sz="1600">
                <a:solidFill>
                  <a:srgbClr val="595959"/>
                </a:solidFill>
              </a:defRPr>
            </a:lvl5pPr>
          </a:lstStyle>
          <a:p>
            <a:r>
              <a:t>Body Level One</a:t>
            </a:r>
          </a:p>
          <a:p>
            <a:pPr lvl="1"/>
            <a:r>
              <a:t>Body Level Two</a:t>
            </a:r>
          </a:p>
          <a:p>
            <a:pPr lvl="2"/>
            <a:r>
              <a:t>Body Level Three</a:t>
            </a:r>
          </a:p>
          <a:p>
            <a:pPr lvl="3"/>
            <a:r>
              <a:t>Body Level Four</a:t>
            </a:r>
          </a:p>
          <a:p>
            <a:pPr lvl="4"/>
            <a:r>
              <a:t>Body Level Five</a:t>
            </a:r>
          </a:p>
        </p:txBody>
      </p:sp>
      <p:sp>
        <p:nvSpPr>
          <p:cNvPr id="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68" name="Title Text"/>
          <p:cNvSpPr txBox="1">
            <a:spLocks noGrp="1"/>
          </p:cNvSpPr>
          <p:nvPr>
            <p:ph type="title"/>
          </p:nvPr>
        </p:nvSpPr>
        <p:spPr>
          <a:xfrm>
            <a:off x="838200" y="365125"/>
            <a:ext cx="10515600" cy="1325563"/>
          </a:xfrm>
          <a:prstGeom prst="rect">
            <a:avLst/>
          </a:prstGeom>
        </p:spPr>
        <p:txBody>
          <a:bodyPr anchor="ctr"/>
          <a:lstStyle>
            <a:lvl1pPr>
              <a:defRPr sz="4400"/>
            </a:lvl1pPr>
          </a:lstStyle>
          <a:p>
            <a:r>
              <a:t>Title Text</a:t>
            </a:r>
          </a:p>
        </p:txBody>
      </p:sp>
      <p:sp>
        <p:nvSpPr>
          <p:cNvPr id="69" name="Body Level One…"/>
          <p:cNvSpPr txBox="1">
            <a:spLocks noGrp="1"/>
          </p:cNvSpPr>
          <p:nvPr>
            <p:ph type="body" idx="1"/>
          </p:nvPr>
        </p:nvSpPr>
        <p:spPr>
          <a:xfrm rot="5400000">
            <a:off x="4258469" y="-1594643"/>
            <a:ext cx="3675065" cy="10515601"/>
          </a:xfrm>
          <a:prstGeom prst="rect">
            <a:avLst/>
          </a:prstGeom>
        </p:spPr>
        <p:txBody>
          <a:bodyPr/>
          <a:lstStyle>
            <a:lvl1pPr marL="457200" indent="-342900">
              <a:buSzPts val="2800"/>
              <a:buBlip>
                <a:blip r:embed="rId2"/>
              </a:buBlip>
              <a:defRPr sz="2800">
                <a:solidFill>
                  <a:srgbClr val="595959"/>
                </a:solidFill>
              </a:defRPr>
            </a:lvl1pPr>
            <a:lvl2pPr marL="971550" indent="-400050">
              <a:buSzPts val="2800"/>
              <a:buChar char="•"/>
              <a:defRPr sz="2800">
                <a:solidFill>
                  <a:srgbClr val="595959"/>
                </a:solidFill>
              </a:defRPr>
            </a:lvl2pPr>
            <a:lvl3pPr marL="1508760" indent="-480060">
              <a:buSzPts val="2800"/>
              <a:buChar char="•"/>
              <a:defRPr sz="2800">
                <a:solidFill>
                  <a:srgbClr val="595959"/>
                </a:solidFill>
              </a:defRPr>
            </a:lvl3pPr>
            <a:lvl4pPr marL="2019300" indent="-533400">
              <a:buSzPts val="2800"/>
              <a:buChar char="•"/>
              <a:defRPr sz="2800">
                <a:solidFill>
                  <a:srgbClr val="595959"/>
                </a:solidFill>
              </a:defRPr>
            </a:lvl4pPr>
            <a:lvl5pPr marL="2476500" indent="-533400">
              <a:buSzPts val="2800"/>
              <a:buChar char="•"/>
              <a:defRPr sz="2800">
                <a:solidFill>
                  <a:srgbClr val="595959"/>
                </a:solidFill>
              </a:defRPr>
            </a:lvl5pPr>
          </a:lstStyle>
          <a:p>
            <a:r>
              <a:t>Body Level One</a:t>
            </a:r>
          </a:p>
          <a:p>
            <a:pPr lvl="1"/>
            <a:r>
              <a:t>Body Level Two</a:t>
            </a:r>
          </a:p>
          <a:p>
            <a:pPr lvl="2"/>
            <a:r>
              <a:t>Body Level Three</a:t>
            </a:r>
          </a:p>
          <a:p>
            <a:pPr lvl="3"/>
            <a:r>
              <a:t>Body Level Four</a:t>
            </a:r>
          </a:p>
          <a:p>
            <a:pPr lvl="4"/>
            <a:r>
              <a:t>Body Level Five</a:t>
            </a:r>
          </a:p>
        </p:txBody>
      </p:sp>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77" name="Title Text"/>
          <p:cNvSpPr txBox="1">
            <a:spLocks noGrp="1"/>
          </p:cNvSpPr>
          <p:nvPr>
            <p:ph type="title"/>
          </p:nvPr>
        </p:nvSpPr>
        <p:spPr>
          <a:xfrm rot="5400000">
            <a:off x="7478713" y="1611312"/>
            <a:ext cx="5121277" cy="2628901"/>
          </a:xfrm>
          <a:prstGeom prst="rect">
            <a:avLst/>
          </a:prstGeom>
        </p:spPr>
        <p:txBody>
          <a:bodyPr anchor="ctr"/>
          <a:lstStyle>
            <a:lvl1pPr>
              <a:defRPr sz="4400"/>
            </a:lvl1pPr>
          </a:lstStyle>
          <a:p>
            <a:r>
              <a:t>Title Text</a:t>
            </a:r>
          </a:p>
        </p:txBody>
      </p:sp>
      <p:sp>
        <p:nvSpPr>
          <p:cNvPr id="78" name="Body Level One…"/>
          <p:cNvSpPr txBox="1">
            <a:spLocks noGrp="1"/>
          </p:cNvSpPr>
          <p:nvPr>
            <p:ph type="body" idx="1"/>
          </p:nvPr>
        </p:nvSpPr>
        <p:spPr>
          <a:xfrm rot="5400000">
            <a:off x="2144713" y="-941388"/>
            <a:ext cx="5121277" cy="7734301"/>
          </a:xfrm>
          <a:prstGeom prst="rect">
            <a:avLst/>
          </a:prstGeom>
        </p:spPr>
        <p:txBody>
          <a:bodyPr/>
          <a:lstStyle>
            <a:lvl1pPr marL="457200" indent="-342900">
              <a:buSzPts val="2800"/>
              <a:buBlip>
                <a:blip r:embed="rId2"/>
              </a:buBlip>
              <a:defRPr sz="2800">
                <a:solidFill>
                  <a:srgbClr val="595959"/>
                </a:solidFill>
              </a:defRPr>
            </a:lvl1pPr>
            <a:lvl2pPr marL="971550" indent="-400050">
              <a:buSzPts val="2800"/>
              <a:buChar char="•"/>
              <a:defRPr sz="2800">
                <a:solidFill>
                  <a:srgbClr val="595959"/>
                </a:solidFill>
              </a:defRPr>
            </a:lvl2pPr>
            <a:lvl3pPr marL="1508760" indent="-480060">
              <a:buSzPts val="2800"/>
              <a:buChar char="•"/>
              <a:defRPr sz="2800">
                <a:solidFill>
                  <a:srgbClr val="595959"/>
                </a:solidFill>
              </a:defRPr>
            </a:lvl3pPr>
            <a:lvl4pPr marL="2019300" indent="-533400">
              <a:buSzPts val="2800"/>
              <a:buChar char="•"/>
              <a:defRPr sz="2800">
                <a:solidFill>
                  <a:srgbClr val="595959"/>
                </a:solidFill>
              </a:defRPr>
            </a:lvl4pPr>
            <a:lvl5pPr marL="2476500" indent="-533400">
              <a:buSzPts val="2800"/>
              <a:buChar char="•"/>
              <a:defRPr sz="2800">
                <a:solidFill>
                  <a:srgbClr val="595959"/>
                </a:solidFill>
              </a:defRPr>
            </a:lvl5pPr>
          </a:lstStyle>
          <a:p>
            <a:r>
              <a:t>Body Level One</a:t>
            </a:r>
          </a:p>
          <a:p>
            <a:pPr lvl="1"/>
            <a:r>
              <a:t>Body Level Two</a:t>
            </a:r>
          </a:p>
          <a:p>
            <a:pPr lvl="2"/>
            <a:r>
              <a:t>Body Level Three</a:t>
            </a:r>
          </a:p>
          <a:p>
            <a:pPr lvl="3"/>
            <a:r>
              <a:t>Body Level Four</a:t>
            </a:r>
          </a:p>
          <a:p>
            <a:pPr lvl="4"/>
            <a:r>
              <a:t>Body Level Five</a:t>
            </a:r>
          </a:p>
        </p:txBody>
      </p:sp>
      <p:sp>
        <p:nvSpPr>
          <p:cNvPr id="7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BLANK">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ECTION_HEADER">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93" name="Title Text"/>
          <p:cNvSpPr txBox="1">
            <a:spLocks noGrp="1"/>
          </p:cNvSpPr>
          <p:nvPr>
            <p:ph type="title"/>
          </p:nvPr>
        </p:nvSpPr>
        <p:spPr>
          <a:prstGeom prst="rect">
            <a:avLst/>
          </a:prstGeom>
        </p:spPr>
        <p:txBody>
          <a:bodyPr/>
          <a:lstStyle/>
          <a:p>
            <a:r>
              <a:t>Title Text</a:t>
            </a:r>
          </a:p>
        </p:txBody>
      </p:sp>
      <p:sp>
        <p:nvSpPr>
          <p:cNvPr id="94" name="Body Level One…"/>
          <p:cNvSpPr txBox="1">
            <a:spLocks noGrp="1"/>
          </p:cNvSpPr>
          <p:nvPr>
            <p:ph type="body" sz="quarter" idx="1"/>
          </p:nvPr>
        </p:nvSpPr>
        <p:spPr>
          <a:prstGeom prst="rect">
            <a:avLst/>
          </a:prstGeom>
        </p:spPr>
        <p:txBody>
          <a:bodyPr/>
          <a:lstStyle>
            <a:lvl1pPr>
              <a:lnSpc>
                <a:spcPct val="120000"/>
              </a:lnSpc>
            </a:lvl1pPr>
            <a:lvl2pPr>
              <a:lnSpc>
                <a:spcPct val="120000"/>
              </a:lnSpc>
            </a:lvl2pPr>
            <a:lvl3pPr>
              <a:lnSpc>
                <a:spcPct val="120000"/>
              </a:lnSpc>
            </a:lvl3pPr>
            <a:lvl4pPr>
              <a:lnSpc>
                <a:spcPct val="120000"/>
              </a:lnSpc>
            </a:lvl4pPr>
            <a:lvl5pPr>
              <a:lnSpc>
                <a:spcPct val="120000"/>
              </a:lnSpc>
            </a:lvl5pPr>
          </a:lstStyle>
          <a:p>
            <a:r>
              <a:t>Body Level One</a:t>
            </a:r>
          </a:p>
          <a:p>
            <a:pPr lvl="1"/>
            <a:r>
              <a:t>Body Level Two</a:t>
            </a:r>
          </a:p>
          <a:p>
            <a:pPr lvl="2"/>
            <a:r>
              <a:t>Body Level Three</a:t>
            </a:r>
          </a:p>
          <a:p>
            <a:pPr lvl="3"/>
            <a:r>
              <a:t>Body Level Four</a:t>
            </a:r>
          </a:p>
          <a:p>
            <a:pPr lvl="4"/>
            <a:r>
              <a:t>Body Level Five</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02" name="Title Text"/>
          <p:cNvSpPr txBox="1">
            <a:spLocks noGrp="1"/>
          </p:cNvSpPr>
          <p:nvPr>
            <p:ph type="title"/>
          </p:nvPr>
        </p:nvSpPr>
        <p:spPr>
          <a:xfrm>
            <a:off x="609600" y="92074"/>
            <a:ext cx="10972800" cy="1508126"/>
          </a:xfrm>
          <a:prstGeom prst="rect">
            <a:avLst/>
          </a:prstGeom>
        </p:spPr>
        <p:txBody>
          <a:bodyPr anchor="ctr"/>
          <a:lstStyle>
            <a:lvl1pPr>
              <a:defRPr sz="4400"/>
            </a:lvl1pPr>
          </a:lstStyle>
          <a:p>
            <a:r>
              <a:t>Title Text</a:t>
            </a:r>
          </a:p>
        </p:txBody>
      </p:sp>
      <p:sp>
        <p:nvSpPr>
          <p:cNvPr id="103" name="Body Level One…"/>
          <p:cNvSpPr txBox="1">
            <a:spLocks noGrp="1"/>
          </p:cNvSpPr>
          <p:nvPr>
            <p:ph type="body" idx="1"/>
          </p:nvPr>
        </p:nvSpPr>
        <p:spPr>
          <a:xfrm>
            <a:off x="609600" y="1600200"/>
            <a:ext cx="10972800" cy="3657600"/>
          </a:xfrm>
          <a:prstGeom prst="rect">
            <a:avLst/>
          </a:prstGeom>
        </p:spPr>
        <p:txBody>
          <a:bodyPr/>
          <a:lstStyle>
            <a:lvl1pPr marL="457200" indent="-406400">
              <a:buClr>
                <a:srgbClr val="595959"/>
              </a:buClr>
              <a:buSzPts val="2800"/>
              <a:buFont typeface="Arial"/>
              <a:buChar char="•"/>
              <a:defRPr sz="2800">
                <a:solidFill>
                  <a:srgbClr val="595959"/>
                </a:solidFill>
              </a:defRPr>
            </a:lvl1pPr>
            <a:lvl2pPr marL="977900" indent="-444500">
              <a:buClr>
                <a:srgbClr val="595959"/>
              </a:buClr>
              <a:buSzPts val="2800"/>
              <a:buFont typeface="Arial"/>
              <a:buChar char="•"/>
              <a:defRPr sz="2800">
                <a:solidFill>
                  <a:srgbClr val="595959"/>
                </a:solidFill>
              </a:defRPr>
            </a:lvl2pPr>
            <a:lvl3pPr marL="1513838" indent="-497838">
              <a:buClr>
                <a:srgbClr val="595959"/>
              </a:buClr>
              <a:buSzPts val="2800"/>
              <a:buFont typeface="Arial"/>
              <a:buChar char="•"/>
              <a:defRPr sz="2800">
                <a:solidFill>
                  <a:srgbClr val="595959"/>
                </a:solidFill>
              </a:defRPr>
            </a:lvl3pPr>
            <a:lvl4pPr marL="2019300" indent="-533400">
              <a:buClr>
                <a:srgbClr val="595959"/>
              </a:buClr>
              <a:buSzPts val="2800"/>
              <a:buFont typeface="Arial"/>
              <a:buChar char="•"/>
              <a:defRPr sz="2800">
                <a:solidFill>
                  <a:srgbClr val="595959"/>
                </a:solidFill>
              </a:defRPr>
            </a:lvl4pPr>
            <a:lvl5pPr marL="2476500" indent="-533400">
              <a:buClr>
                <a:srgbClr val="595959"/>
              </a:buClr>
              <a:buSzPts val="2800"/>
              <a:buFont typeface="Arial"/>
              <a:buChar char="•"/>
              <a:defRPr sz="2800">
                <a:solidFill>
                  <a:srgbClr val="595959"/>
                </a:solidFill>
              </a:defRPr>
            </a:lvl5pPr>
          </a:lstStyle>
          <a:p>
            <a:r>
              <a:t>Body Level One</a:t>
            </a:r>
          </a:p>
          <a:p>
            <a:pPr lvl="1"/>
            <a:r>
              <a:t>Body Level Two</a:t>
            </a:r>
          </a:p>
          <a:p>
            <a:pPr lvl="2"/>
            <a:r>
              <a:t>Body Level Three</a:t>
            </a:r>
          </a:p>
          <a:p>
            <a:pPr lvl="3"/>
            <a:r>
              <a:t>Body Level Four</a:t>
            </a:r>
          </a:p>
          <a:p>
            <a:pPr lvl="4"/>
            <a:r>
              <a:t>Body Level Five</a:t>
            </a:r>
          </a:p>
        </p:txBody>
      </p:sp>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srcRect/>
          <a:stretch>
            <a:fillRect/>
          </a:stretch>
        </a:blip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1850" y="923925"/>
            <a:ext cx="10515600" cy="2852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b">
            <a:normAutofit/>
          </a:bodyPr>
          <a:lstStyle/>
          <a:p>
            <a:r>
              <a:t>Title Text</a:t>
            </a:r>
          </a:p>
        </p:txBody>
      </p:sp>
      <p:sp>
        <p:nvSpPr>
          <p:cNvPr id="3" name="Body Level One…"/>
          <p:cNvSpPr txBox="1">
            <a:spLocks noGrp="1"/>
          </p:cNvSpPr>
          <p:nvPr>
            <p:ph type="body" idx="1"/>
          </p:nvPr>
        </p:nvSpPr>
        <p:spPr>
          <a:xfrm>
            <a:off x="831850" y="3803651"/>
            <a:ext cx="10515600" cy="15001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262778" y="6406806"/>
            <a:ext cx="273615" cy="264213"/>
          </a:xfrm>
          <a:prstGeom prst="rect">
            <a:avLst/>
          </a:prstGeom>
          <a:ln w="12700">
            <a:miter lim="400000"/>
          </a:ln>
        </p:spPr>
        <p:txBody>
          <a:bodyPr wrap="none" lIns="45699" tIns="45699" rIns="45699" bIns="45699" anchor="ctr">
            <a:spAutoFit/>
          </a:bodyPr>
          <a:lstStyle>
            <a:lvl1pPr algn="ctr">
              <a:lnSpc>
                <a:spcPct val="100000"/>
              </a:lnSpc>
              <a:spcBef>
                <a:spcPts val="0"/>
              </a:spcBef>
              <a:defRPr sz="1200">
                <a:solidFill>
                  <a:srgbClr val="FFFFFF"/>
                </a:solidFill>
                <a:latin typeface="+mj-lt"/>
                <a:ea typeface="+mj-ea"/>
                <a:cs typeface="+mj-cs"/>
                <a:sym typeface="Aria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90000"/>
        </a:lnSpc>
        <a:spcBef>
          <a:spcPts val="0"/>
        </a:spcBef>
        <a:spcAft>
          <a:spcPts val="0"/>
        </a:spcAft>
        <a:buClrTx/>
        <a:buSzTx/>
        <a:buFontTx/>
        <a:buNone/>
        <a:tabLst/>
        <a:defRPr sz="6000" b="0" i="0" u="none" strike="noStrike" cap="none" spc="0" baseline="0">
          <a:solidFill>
            <a:srgbClr val="595959"/>
          </a:solidFill>
          <a:uFillTx/>
          <a:latin typeface="+mj-lt"/>
          <a:ea typeface="+mj-ea"/>
          <a:cs typeface="+mj-cs"/>
          <a:sym typeface="Arial"/>
        </a:defRPr>
      </a:lvl1pPr>
      <a:lvl2pPr marL="0" marR="0" indent="0" algn="l" defTabSz="914400" rtl="0" latinLnBrk="0">
        <a:lnSpc>
          <a:spcPct val="90000"/>
        </a:lnSpc>
        <a:spcBef>
          <a:spcPts val="0"/>
        </a:spcBef>
        <a:spcAft>
          <a:spcPts val="0"/>
        </a:spcAft>
        <a:buClrTx/>
        <a:buSzTx/>
        <a:buFontTx/>
        <a:buNone/>
        <a:tabLst/>
        <a:defRPr sz="6000" b="0" i="0" u="none" strike="noStrike" cap="none" spc="0" baseline="0">
          <a:solidFill>
            <a:srgbClr val="595959"/>
          </a:solidFill>
          <a:uFillTx/>
          <a:latin typeface="+mj-lt"/>
          <a:ea typeface="+mj-ea"/>
          <a:cs typeface="+mj-cs"/>
          <a:sym typeface="Arial"/>
        </a:defRPr>
      </a:lvl2pPr>
      <a:lvl3pPr marL="0" marR="0" indent="0" algn="l" defTabSz="914400" rtl="0" latinLnBrk="0">
        <a:lnSpc>
          <a:spcPct val="90000"/>
        </a:lnSpc>
        <a:spcBef>
          <a:spcPts val="0"/>
        </a:spcBef>
        <a:spcAft>
          <a:spcPts val="0"/>
        </a:spcAft>
        <a:buClrTx/>
        <a:buSzTx/>
        <a:buFontTx/>
        <a:buNone/>
        <a:tabLst/>
        <a:defRPr sz="6000" b="0" i="0" u="none" strike="noStrike" cap="none" spc="0" baseline="0">
          <a:solidFill>
            <a:srgbClr val="595959"/>
          </a:solidFill>
          <a:uFillTx/>
          <a:latin typeface="+mj-lt"/>
          <a:ea typeface="+mj-ea"/>
          <a:cs typeface="+mj-cs"/>
          <a:sym typeface="Arial"/>
        </a:defRPr>
      </a:lvl3pPr>
      <a:lvl4pPr marL="0" marR="0" indent="0" algn="l" defTabSz="914400" rtl="0" latinLnBrk="0">
        <a:lnSpc>
          <a:spcPct val="90000"/>
        </a:lnSpc>
        <a:spcBef>
          <a:spcPts val="0"/>
        </a:spcBef>
        <a:spcAft>
          <a:spcPts val="0"/>
        </a:spcAft>
        <a:buClrTx/>
        <a:buSzTx/>
        <a:buFontTx/>
        <a:buNone/>
        <a:tabLst/>
        <a:defRPr sz="6000" b="0" i="0" u="none" strike="noStrike" cap="none" spc="0" baseline="0">
          <a:solidFill>
            <a:srgbClr val="595959"/>
          </a:solidFill>
          <a:uFillTx/>
          <a:latin typeface="+mj-lt"/>
          <a:ea typeface="+mj-ea"/>
          <a:cs typeface="+mj-cs"/>
          <a:sym typeface="Arial"/>
        </a:defRPr>
      </a:lvl4pPr>
      <a:lvl5pPr marL="0" marR="0" indent="0" algn="l" defTabSz="914400" rtl="0" latinLnBrk="0">
        <a:lnSpc>
          <a:spcPct val="90000"/>
        </a:lnSpc>
        <a:spcBef>
          <a:spcPts val="0"/>
        </a:spcBef>
        <a:spcAft>
          <a:spcPts val="0"/>
        </a:spcAft>
        <a:buClrTx/>
        <a:buSzTx/>
        <a:buFontTx/>
        <a:buNone/>
        <a:tabLst/>
        <a:defRPr sz="6000" b="0" i="0" u="none" strike="noStrike" cap="none" spc="0" baseline="0">
          <a:solidFill>
            <a:srgbClr val="595959"/>
          </a:solidFill>
          <a:uFillTx/>
          <a:latin typeface="+mj-lt"/>
          <a:ea typeface="+mj-ea"/>
          <a:cs typeface="+mj-cs"/>
          <a:sym typeface="Arial"/>
        </a:defRPr>
      </a:lvl5pPr>
      <a:lvl6pPr marL="0" marR="0" indent="0" algn="l" defTabSz="914400" rtl="0" latinLnBrk="0">
        <a:lnSpc>
          <a:spcPct val="90000"/>
        </a:lnSpc>
        <a:spcBef>
          <a:spcPts val="0"/>
        </a:spcBef>
        <a:spcAft>
          <a:spcPts val="0"/>
        </a:spcAft>
        <a:buClrTx/>
        <a:buSzTx/>
        <a:buFontTx/>
        <a:buNone/>
        <a:tabLst/>
        <a:defRPr sz="6000" b="0" i="0" u="none" strike="noStrike" cap="none" spc="0" baseline="0">
          <a:solidFill>
            <a:srgbClr val="595959"/>
          </a:solidFill>
          <a:uFillTx/>
          <a:latin typeface="+mj-lt"/>
          <a:ea typeface="+mj-ea"/>
          <a:cs typeface="+mj-cs"/>
          <a:sym typeface="Arial"/>
        </a:defRPr>
      </a:lvl6pPr>
      <a:lvl7pPr marL="0" marR="0" indent="0" algn="l" defTabSz="914400" rtl="0" latinLnBrk="0">
        <a:lnSpc>
          <a:spcPct val="90000"/>
        </a:lnSpc>
        <a:spcBef>
          <a:spcPts val="0"/>
        </a:spcBef>
        <a:spcAft>
          <a:spcPts val="0"/>
        </a:spcAft>
        <a:buClrTx/>
        <a:buSzTx/>
        <a:buFontTx/>
        <a:buNone/>
        <a:tabLst/>
        <a:defRPr sz="6000" b="0" i="0" u="none" strike="noStrike" cap="none" spc="0" baseline="0">
          <a:solidFill>
            <a:srgbClr val="595959"/>
          </a:solidFill>
          <a:uFillTx/>
          <a:latin typeface="+mj-lt"/>
          <a:ea typeface="+mj-ea"/>
          <a:cs typeface="+mj-cs"/>
          <a:sym typeface="Arial"/>
        </a:defRPr>
      </a:lvl7pPr>
      <a:lvl8pPr marL="0" marR="0" indent="0" algn="l" defTabSz="914400" rtl="0" latinLnBrk="0">
        <a:lnSpc>
          <a:spcPct val="90000"/>
        </a:lnSpc>
        <a:spcBef>
          <a:spcPts val="0"/>
        </a:spcBef>
        <a:spcAft>
          <a:spcPts val="0"/>
        </a:spcAft>
        <a:buClrTx/>
        <a:buSzTx/>
        <a:buFontTx/>
        <a:buNone/>
        <a:tabLst/>
        <a:defRPr sz="6000" b="0" i="0" u="none" strike="noStrike" cap="none" spc="0" baseline="0">
          <a:solidFill>
            <a:srgbClr val="595959"/>
          </a:solidFill>
          <a:uFillTx/>
          <a:latin typeface="+mj-lt"/>
          <a:ea typeface="+mj-ea"/>
          <a:cs typeface="+mj-cs"/>
          <a:sym typeface="Arial"/>
        </a:defRPr>
      </a:lvl8pPr>
      <a:lvl9pPr marL="0" marR="0" indent="0" algn="l" defTabSz="914400" rtl="0" latinLnBrk="0">
        <a:lnSpc>
          <a:spcPct val="90000"/>
        </a:lnSpc>
        <a:spcBef>
          <a:spcPts val="0"/>
        </a:spcBef>
        <a:spcAft>
          <a:spcPts val="0"/>
        </a:spcAft>
        <a:buClrTx/>
        <a:buSzTx/>
        <a:buFontTx/>
        <a:buNone/>
        <a:tabLst/>
        <a:defRPr sz="6000" b="0" i="0" u="none" strike="noStrike" cap="none" spc="0" baseline="0">
          <a:solidFill>
            <a:srgbClr val="595959"/>
          </a:solidFill>
          <a:uFillTx/>
          <a:latin typeface="+mj-lt"/>
          <a:ea typeface="+mj-ea"/>
          <a:cs typeface="+mj-cs"/>
          <a:sym typeface="Arial"/>
        </a:defRPr>
      </a:lvl9pPr>
    </p:titleStyle>
    <p:bodyStyle>
      <a:lvl1pPr marL="0" marR="0" indent="228600" algn="l" defTabSz="914400" rtl="0" latinLnBrk="0">
        <a:lnSpc>
          <a:spcPct val="90000"/>
        </a:lnSpc>
        <a:spcBef>
          <a:spcPts val="1000"/>
        </a:spcBef>
        <a:spcAft>
          <a:spcPts val="0"/>
        </a:spcAft>
        <a:buClrTx/>
        <a:buSzTx/>
        <a:buFontTx/>
        <a:buNone/>
        <a:tabLst/>
        <a:defRPr sz="2400" b="0" i="0" u="none" strike="noStrike" cap="none" spc="0" baseline="0">
          <a:solidFill>
            <a:srgbClr val="888888"/>
          </a:solidFill>
          <a:uFillTx/>
          <a:latin typeface="+mj-lt"/>
          <a:ea typeface="+mj-ea"/>
          <a:cs typeface="+mj-cs"/>
          <a:sym typeface="Arial"/>
        </a:defRPr>
      </a:lvl1pPr>
      <a:lvl2pPr marL="0" marR="0" indent="228600" algn="l" defTabSz="914400" rtl="0" latinLnBrk="0">
        <a:lnSpc>
          <a:spcPct val="90000"/>
        </a:lnSpc>
        <a:spcBef>
          <a:spcPts val="1000"/>
        </a:spcBef>
        <a:spcAft>
          <a:spcPts val="0"/>
        </a:spcAft>
        <a:buClrTx/>
        <a:buSzTx/>
        <a:buFontTx/>
        <a:buNone/>
        <a:tabLst/>
        <a:defRPr sz="2400" b="0" i="0" u="none" strike="noStrike" cap="none" spc="0" baseline="0">
          <a:solidFill>
            <a:srgbClr val="888888"/>
          </a:solidFill>
          <a:uFillTx/>
          <a:latin typeface="+mj-lt"/>
          <a:ea typeface="+mj-ea"/>
          <a:cs typeface="+mj-cs"/>
          <a:sym typeface="Arial"/>
        </a:defRPr>
      </a:lvl2pPr>
      <a:lvl3pPr marL="0" marR="0" indent="228600" algn="l" defTabSz="914400" rtl="0" latinLnBrk="0">
        <a:lnSpc>
          <a:spcPct val="90000"/>
        </a:lnSpc>
        <a:spcBef>
          <a:spcPts val="1000"/>
        </a:spcBef>
        <a:spcAft>
          <a:spcPts val="0"/>
        </a:spcAft>
        <a:buClrTx/>
        <a:buSzTx/>
        <a:buFontTx/>
        <a:buNone/>
        <a:tabLst/>
        <a:defRPr sz="2400" b="0" i="0" u="none" strike="noStrike" cap="none" spc="0" baseline="0">
          <a:solidFill>
            <a:srgbClr val="888888"/>
          </a:solidFill>
          <a:uFillTx/>
          <a:latin typeface="+mj-lt"/>
          <a:ea typeface="+mj-ea"/>
          <a:cs typeface="+mj-cs"/>
          <a:sym typeface="Arial"/>
        </a:defRPr>
      </a:lvl3pPr>
      <a:lvl4pPr marL="0" marR="0" indent="228600" algn="l" defTabSz="914400" rtl="0" latinLnBrk="0">
        <a:lnSpc>
          <a:spcPct val="90000"/>
        </a:lnSpc>
        <a:spcBef>
          <a:spcPts val="1000"/>
        </a:spcBef>
        <a:spcAft>
          <a:spcPts val="0"/>
        </a:spcAft>
        <a:buClrTx/>
        <a:buSzTx/>
        <a:buFontTx/>
        <a:buNone/>
        <a:tabLst/>
        <a:defRPr sz="2400" b="0" i="0" u="none" strike="noStrike" cap="none" spc="0" baseline="0">
          <a:solidFill>
            <a:srgbClr val="888888"/>
          </a:solidFill>
          <a:uFillTx/>
          <a:latin typeface="+mj-lt"/>
          <a:ea typeface="+mj-ea"/>
          <a:cs typeface="+mj-cs"/>
          <a:sym typeface="Arial"/>
        </a:defRPr>
      </a:lvl4pPr>
      <a:lvl5pPr marL="0" marR="0" indent="228600" algn="l" defTabSz="914400" rtl="0" latinLnBrk="0">
        <a:lnSpc>
          <a:spcPct val="90000"/>
        </a:lnSpc>
        <a:spcBef>
          <a:spcPts val="1000"/>
        </a:spcBef>
        <a:spcAft>
          <a:spcPts val="0"/>
        </a:spcAft>
        <a:buClrTx/>
        <a:buSzTx/>
        <a:buFontTx/>
        <a:buNone/>
        <a:tabLst/>
        <a:defRPr sz="2400" b="0" i="0" u="none" strike="noStrike" cap="none" spc="0" baseline="0">
          <a:solidFill>
            <a:srgbClr val="888888"/>
          </a:solidFill>
          <a:uFillTx/>
          <a:latin typeface="+mj-lt"/>
          <a:ea typeface="+mj-ea"/>
          <a:cs typeface="+mj-cs"/>
          <a:sym typeface="Arial"/>
        </a:defRPr>
      </a:lvl5pPr>
      <a:lvl6pPr marL="2857500" marR="0" indent="-457200" algn="l" defTabSz="914400" rtl="0" latinLnBrk="0">
        <a:lnSpc>
          <a:spcPct val="90000"/>
        </a:lnSpc>
        <a:spcBef>
          <a:spcPts val="1000"/>
        </a:spcBef>
        <a:spcAft>
          <a:spcPts val="0"/>
        </a:spcAft>
        <a:buClrTx/>
        <a:buSzPts val="2400"/>
        <a:buFontTx/>
        <a:buChar char="•"/>
        <a:tabLst/>
        <a:defRPr sz="2400" b="0" i="0" u="none" strike="noStrike" cap="none" spc="0" baseline="0">
          <a:solidFill>
            <a:srgbClr val="888888"/>
          </a:solidFill>
          <a:uFillTx/>
          <a:latin typeface="+mj-lt"/>
          <a:ea typeface="+mj-ea"/>
          <a:cs typeface="+mj-cs"/>
          <a:sym typeface="Arial"/>
        </a:defRPr>
      </a:lvl6pPr>
      <a:lvl7pPr marL="3314700" marR="0" indent="-457200" algn="l" defTabSz="914400" rtl="0" latinLnBrk="0">
        <a:lnSpc>
          <a:spcPct val="90000"/>
        </a:lnSpc>
        <a:spcBef>
          <a:spcPts val="1000"/>
        </a:spcBef>
        <a:spcAft>
          <a:spcPts val="0"/>
        </a:spcAft>
        <a:buClrTx/>
        <a:buSzPts val="2400"/>
        <a:buFontTx/>
        <a:buChar char="•"/>
        <a:tabLst/>
        <a:defRPr sz="2400" b="0" i="0" u="none" strike="noStrike" cap="none" spc="0" baseline="0">
          <a:solidFill>
            <a:srgbClr val="888888"/>
          </a:solidFill>
          <a:uFillTx/>
          <a:latin typeface="+mj-lt"/>
          <a:ea typeface="+mj-ea"/>
          <a:cs typeface="+mj-cs"/>
          <a:sym typeface="Arial"/>
        </a:defRPr>
      </a:lvl7pPr>
      <a:lvl8pPr marL="3771900" marR="0" indent="-457200" algn="l" defTabSz="914400" rtl="0" latinLnBrk="0">
        <a:lnSpc>
          <a:spcPct val="90000"/>
        </a:lnSpc>
        <a:spcBef>
          <a:spcPts val="1000"/>
        </a:spcBef>
        <a:spcAft>
          <a:spcPts val="0"/>
        </a:spcAft>
        <a:buClrTx/>
        <a:buSzPts val="2400"/>
        <a:buFontTx/>
        <a:buChar char="•"/>
        <a:tabLst/>
        <a:defRPr sz="2400" b="0" i="0" u="none" strike="noStrike" cap="none" spc="0" baseline="0">
          <a:solidFill>
            <a:srgbClr val="888888"/>
          </a:solidFill>
          <a:uFillTx/>
          <a:latin typeface="+mj-lt"/>
          <a:ea typeface="+mj-ea"/>
          <a:cs typeface="+mj-cs"/>
          <a:sym typeface="Arial"/>
        </a:defRPr>
      </a:lvl8pPr>
      <a:lvl9pPr marL="4229100" marR="0" indent="-457200" algn="l" defTabSz="914400" rtl="0" latinLnBrk="0">
        <a:lnSpc>
          <a:spcPct val="90000"/>
        </a:lnSpc>
        <a:spcBef>
          <a:spcPts val="1000"/>
        </a:spcBef>
        <a:spcAft>
          <a:spcPts val="0"/>
        </a:spcAft>
        <a:buClrTx/>
        <a:buSzPts val="2400"/>
        <a:buFontTx/>
        <a:buChar char="•"/>
        <a:tabLst/>
        <a:defRPr sz="2400" b="0" i="0" u="none" strike="noStrike" cap="none" spc="0" baseline="0">
          <a:solidFill>
            <a:srgbClr val="888888"/>
          </a:solidFill>
          <a:uFillTx/>
          <a:latin typeface="+mj-lt"/>
          <a:ea typeface="+mj-ea"/>
          <a:cs typeface="+mj-cs"/>
          <a:sym typeface="Arial"/>
        </a:defRPr>
      </a:lvl9pPr>
    </p:bodyStyle>
    <p:otherStyle>
      <a:lvl1pPr marL="0" marR="0" indent="0" algn="ct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0" algn="ct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0" algn="ct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0" algn="ct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0" algn="ct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mailto:xiao.li@ucdconnect.ie"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srcRect/>
          <a:stretch>
            <a:fillRect/>
          </a:stretch>
        </a:blipFill>
        <a:effectLst/>
      </p:bgPr>
    </p:bg>
    <p:spTree>
      <p:nvGrpSpPr>
        <p:cNvPr id="1" name=""/>
        <p:cNvGrpSpPr/>
        <p:nvPr/>
      </p:nvGrpSpPr>
      <p:grpSpPr>
        <a:xfrm>
          <a:off x="0" y="0"/>
          <a:ext cx="0" cy="0"/>
          <a:chOff x="0" y="0"/>
          <a:chExt cx="0" cy="0"/>
        </a:xfrm>
      </p:grpSpPr>
      <p:sp>
        <p:nvSpPr>
          <p:cNvPr id="113" name="Two Sides of the Same Coin: How LLMs Reveal Dual Narratives in Annual Reports"/>
          <p:cNvSpPr txBox="1">
            <a:spLocks noGrp="1"/>
          </p:cNvSpPr>
          <p:nvPr>
            <p:ph type="ctrTitle"/>
          </p:nvPr>
        </p:nvSpPr>
        <p:spPr>
          <a:xfrm>
            <a:off x="599230" y="1435711"/>
            <a:ext cx="6858001" cy="1978026"/>
          </a:xfrm>
          <a:prstGeom prst="rect">
            <a:avLst/>
          </a:prstGeom>
        </p:spPr>
        <p:txBody>
          <a:bodyPr/>
          <a:lstStyle/>
          <a:p>
            <a:r>
              <a:t>Two Sides of the Same Coin: How LLMs Reveal Dual Narratives in Annual Reports</a:t>
            </a:r>
          </a:p>
        </p:txBody>
      </p:sp>
      <p:sp>
        <p:nvSpPr>
          <p:cNvPr id="114" name="Rectangle"/>
          <p:cNvSpPr/>
          <p:nvPr/>
        </p:nvSpPr>
        <p:spPr>
          <a:xfrm>
            <a:off x="635934" y="3497734"/>
            <a:ext cx="15468" cy="992259"/>
          </a:xfrm>
          <a:prstGeom prst="rect">
            <a:avLst/>
          </a:prstGeom>
          <a:solidFill>
            <a:srgbClr val="FFFFFF"/>
          </a:solidFill>
          <a:ln w="12700">
            <a:miter lim="400000"/>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115" name="A novel semantic scoring framework for quantifying distinct risk and response narratives within corporate financial filings (Form 10-K)."/>
          <p:cNvSpPr txBox="1"/>
          <p:nvPr/>
        </p:nvSpPr>
        <p:spPr>
          <a:xfrm>
            <a:off x="840530" y="3497734"/>
            <a:ext cx="6604001" cy="9202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lvl1pPr algn="l">
              <a:spcBef>
                <a:spcPts val="0"/>
              </a:spcBef>
              <a:defRPr sz="1700" i="1">
                <a:solidFill>
                  <a:srgbClr val="FFFFFF"/>
                </a:solidFill>
              </a:defRPr>
            </a:lvl1pPr>
          </a:lstStyle>
          <a:p>
            <a:r>
              <a:t>A novel semantic scoring framework for quantifying distinct risk and response narratives within corporate financial filings (Form 10-K).</a:t>
            </a:r>
          </a:p>
        </p:txBody>
      </p:sp>
      <p:sp>
        <p:nvSpPr>
          <p:cNvPr id="116" name="Xiao Li, Changhong Jin, Yingjie Niu, and Ruihai Dong…"/>
          <p:cNvSpPr txBox="1"/>
          <p:nvPr/>
        </p:nvSpPr>
        <p:spPr>
          <a:xfrm>
            <a:off x="593501" y="4502010"/>
            <a:ext cx="6604001" cy="9202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p>
            <a:pPr algn="l">
              <a:spcBef>
                <a:spcPts val="0"/>
              </a:spcBef>
              <a:defRPr sz="1700">
                <a:solidFill>
                  <a:srgbClr val="FFFFFF"/>
                </a:solidFill>
              </a:defRPr>
            </a:pPr>
            <a:r>
              <a:t>Xiao Li, Changhong Jin, Yingjie Niu, and Ruihai Dong </a:t>
            </a:r>
          </a:p>
          <a:p>
            <a:pPr algn="l">
              <a:spcBef>
                <a:spcPts val="0"/>
              </a:spcBef>
              <a:defRPr sz="1700">
                <a:solidFill>
                  <a:srgbClr val="FFFFFF"/>
                </a:solidFill>
              </a:defRPr>
            </a:pPr>
            <a:r>
              <a:t>Computer Science, University College Dublin</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Google Shape;99;ga60ff6e4fc_1_0"/>
          <p:cNvSpPr txBox="1"/>
          <p:nvPr/>
        </p:nvSpPr>
        <p:spPr>
          <a:xfrm>
            <a:off x="616365" y="543679"/>
            <a:ext cx="10192206" cy="664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spAutoFit/>
          </a:bodyPr>
          <a:lstStyle/>
          <a:p>
            <a:pPr>
              <a:defRPr sz="3400" b="1">
                <a:solidFill>
                  <a:srgbClr val="11335F"/>
                </a:solidFill>
                <a:latin typeface="+mj-lt"/>
                <a:ea typeface="+mj-ea"/>
                <a:cs typeface="+mj-cs"/>
                <a:sym typeface="Arial"/>
              </a:defRPr>
            </a:pPr>
            <a:r>
              <a:t>      The Challenges</a:t>
            </a:r>
          </a:p>
        </p:txBody>
      </p:sp>
      <p:sp>
        <p:nvSpPr>
          <p:cNvPr id="121" name="Google Shape;100;ga60ff6e4fc_1_0"/>
          <p:cNvSpPr txBox="1"/>
          <p:nvPr/>
        </p:nvSpPr>
        <p:spPr>
          <a:xfrm>
            <a:off x="1299105" y="1452856"/>
            <a:ext cx="9869221" cy="41371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8900" tIns="88900" rIns="88900" bIns="88900">
            <a:spAutoFit/>
          </a:bodyPr>
          <a:lstStyle/>
          <a:p>
            <a:pPr marL="406400" indent="-406400" algn="l">
              <a:lnSpc>
                <a:spcPct val="100000"/>
              </a:lnSpc>
              <a:spcBef>
                <a:spcPts val="2000"/>
              </a:spcBef>
              <a:defRPr sz="2400" b="1"/>
            </a:pPr>
            <a:r>
              <a:t>Long, Strategically Written 10-K Narratives</a:t>
            </a:r>
          </a:p>
          <a:p>
            <a:pPr algn="l">
              <a:lnSpc>
                <a:spcPct val="120000"/>
              </a:lnSpc>
              <a:defRPr sz="1600">
                <a:solidFill>
                  <a:srgbClr val="595959"/>
                </a:solidFill>
                <a:latin typeface="+mj-lt"/>
                <a:ea typeface="+mj-ea"/>
                <a:cs typeface="+mj-cs"/>
                <a:sym typeface="Arial"/>
              </a:defRPr>
            </a:pPr>
            <a:r>
              <a:t>10-K reports are lengthy, carefully crafted documents. Manual reading or simple keyword tools cannot scale to S&amp;P 500-level analysis, especially for complex global events.</a:t>
            </a:r>
          </a:p>
          <a:p>
            <a:pPr marL="406400" indent="-406400" algn="l">
              <a:lnSpc>
                <a:spcPct val="100000"/>
              </a:lnSpc>
              <a:spcBef>
                <a:spcPts val="2000"/>
              </a:spcBef>
              <a:defRPr sz="2400" b="1"/>
            </a:pPr>
            <a:r>
              <a:t>Section-Level Nuance Is Under-Used</a:t>
            </a:r>
          </a:p>
          <a:p>
            <a:pPr algn="l">
              <a:defRPr sz="1600"/>
            </a:pPr>
            <a:r>
              <a:t>Most prior work treats the 10-K as one block of text or analyses a single item (often Item 1A). This ignores the </a:t>
            </a:r>
            <a:r>
              <a:rPr i="1"/>
              <a:t>dual narratives</a:t>
            </a:r>
            <a:r>
              <a:t> across sections such as Item 1A (risk disclosure) vs. Item 7 (managerial response), where event information is distributed very differently.</a:t>
            </a:r>
          </a:p>
          <a:p>
            <a:pPr marL="406400" indent="-406400" algn="l">
              <a:lnSpc>
                <a:spcPct val="100000"/>
              </a:lnSpc>
              <a:spcBef>
                <a:spcPts val="2000"/>
              </a:spcBef>
              <a:defRPr sz="2400" b="1"/>
            </a:pPr>
            <a:r>
              <a:t>LLM Scores Are Powerful but Opaque</a:t>
            </a:r>
          </a:p>
          <a:p>
            <a:pPr algn="l">
              <a:lnSpc>
                <a:spcPct val="120000"/>
              </a:lnSpc>
              <a:defRPr sz="1600">
                <a:solidFill>
                  <a:srgbClr val="595959"/>
                </a:solidFill>
                <a:latin typeface="+mj-lt"/>
                <a:ea typeface="+mj-ea"/>
                <a:cs typeface="+mj-cs"/>
                <a:sym typeface="Arial"/>
              </a:defRPr>
            </a:pPr>
            <a:r>
              <a:t>Recent LLM approaches often ask the model for a single score (e.g., 0–10) with no evidence trail. Because of hallucination and missing rationale, it is hard to explain why a firm gets “6 vs. 7”, and almost impossible to replicate or audit the scoring process.</a:t>
            </a:r>
          </a:p>
        </p:txBody>
      </p:sp>
      <p:sp>
        <p:nvSpPr>
          <p:cNvPr id="122" name="Line"/>
          <p:cNvSpPr/>
          <p:nvPr/>
        </p:nvSpPr>
        <p:spPr>
          <a:xfrm flipV="1">
            <a:off x="679864" y="1452856"/>
            <a:ext cx="2" cy="4137127"/>
          </a:xfrm>
          <a:prstGeom prst="line">
            <a:avLst/>
          </a:prstGeom>
          <a:ln w="25400">
            <a:solidFill>
              <a:srgbClr val="11335F"/>
            </a:solidFill>
          </a:ln>
        </p:spPr>
        <p:txBody>
          <a:bodyPr lIns="45718" tIns="45718" rIns="45718" bIns="45718"/>
          <a:lstStyle/>
          <a:p>
            <a:endParaRPr/>
          </a:p>
        </p:txBody>
      </p:sp>
      <p:sp>
        <p:nvSpPr>
          <p:cNvPr id="123" name="Line"/>
          <p:cNvSpPr/>
          <p:nvPr/>
        </p:nvSpPr>
        <p:spPr>
          <a:xfrm flipH="1">
            <a:off x="677324" y="1737368"/>
            <a:ext cx="440939" cy="2"/>
          </a:xfrm>
          <a:prstGeom prst="line">
            <a:avLst/>
          </a:prstGeom>
          <a:ln w="25400">
            <a:solidFill>
              <a:srgbClr val="11335F"/>
            </a:solidFill>
          </a:ln>
        </p:spPr>
        <p:txBody>
          <a:bodyPr lIns="45718" tIns="45718" rIns="45718" bIns="45718"/>
          <a:lstStyle/>
          <a:p>
            <a:endParaRPr/>
          </a:p>
        </p:txBody>
      </p:sp>
      <p:sp>
        <p:nvSpPr>
          <p:cNvPr id="124" name="Circle"/>
          <p:cNvSpPr/>
          <p:nvPr/>
        </p:nvSpPr>
        <p:spPr>
          <a:xfrm>
            <a:off x="616364" y="1673868"/>
            <a:ext cx="127003" cy="127003"/>
          </a:xfrm>
          <a:prstGeom prst="ellipse">
            <a:avLst/>
          </a:prstGeom>
          <a:solidFill>
            <a:srgbClr val="7BB8BA"/>
          </a:solidFill>
          <a:ln w="12700">
            <a:miter lim="400000"/>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125" name="Line"/>
          <p:cNvSpPr/>
          <p:nvPr/>
        </p:nvSpPr>
        <p:spPr>
          <a:xfrm flipH="1">
            <a:off x="677324" y="3013718"/>
            <a:ext cx="440939" cy="2"/>
          </a:xfrm>
          <a:prstGeom prst="line">
            <a:avLst/>
          </a:prstGeom>
          <a:ln w="25400">
            <a:solidFill>
              <a:srgbClr val="11335F"/>
            </a:solidFill>
          </a:ln>
        </p:spPr>
        <p:txBody>
          <a:bodyPr lIns="45718" tIns="45718" rIns="45718" bIns="45718"/>
          <a:lstStyle/>
          <a:p>
            <a:endParaRPr/>
          </a:p>
        </p:txBody>
      </p:sp>
      <p:sp>
        <p:nvSpPr>
          <p:cNvPr id="126" name="Circle"/>
          <p:cNvSpPr/>
          <p:nvPr/>
        </p:nvSpPr>
        <p:spPr>
          <a:xfrm>
            <a:off x="616364" y="2950218"/>
            <a:ext cx="127003" cy="127003"/>
          </a:xfrm>
          <a:prstGeom prst="ellipse">
            <a:avLst/>
          </a:prstGeom>
          <a:solidFill>
            <a:srgbClr val="7BB8BA"/>
          </a:solidFill>
          <a:ln w="12700">
            <a:miter lim="400000"/>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127" name="Line"/>
          <p:cNvSpPr/>
          <p:nvPr/>
        </p:nvSpPr>
        <p:spPr>
          <a:xfrm flipH="1">
            <a:off x="677324" y="4417069"/>
            <a:ext cx="440939" cy="2"/>
          </a:xfrm>
          <a:prstGeom prst="line">
            <a:avLst/>
          </a:prstGeom>
          <a:ln w="25400">
            <a:solidFill>
              <a:srgbClr val="11335F"/>
            </a:solidFill>
          </a:ln>
        </p:spPr>
        <p:txBody>
          <a:bodyPr lIns="45718" tIns="45718" rIns="45718" bIns="45718"/>
          <a:lstStyle/>
          <a:p>
            <a:endParaRPr/>
          </a:p>
        </p:txBody>
      </p:sp>
      <p:sp>
        <p:nvSpPr>
          <p:cNvPr id="128" name="Circle"/>
          <p:cNvSpPr/>
          <p:nvPr/>
        </p:nvSpPr>
        <p:spPr>
          <a:xfrm>
            <a:off x="616364" y="4353567"/>
            <a:ext cx="127003" cy="127003"/>
          </a:xfrm>
          <a:prstGeom prst="ellipse">
            <a:avLst/>
          </a:prstGeom>
          <a:solidFill>
            <a:srgbClr val="7BB8BA"/>
          </a:solidFill>
          <a:ln w="12700">
            <a:miter lim="400000"/>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pic>
        <p:nvPicPr>
          <p:cNvPr id="129" name="Picture 2" descr="Picture 2"/>
          <p:cNvPicPr>
            <a:picLocks noChangeAspect="1"/>
          </p:cNvPicPr>
          <p:nvPr/>
        </p:nvPicPr>
        <p:blipFill>
          <a:blip r:embed="rId3"/>
          <a:stretch>
            <a:fillRect/>
          </a:stretch>
        </p:blipFill>
        <p:spPr>
          <a:xfrm>
            <a:off x="329633" y="415326"/>
            <a:ext cx="909177" cy="909177"/>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Google Shape;99;ga60ff6e4fc_1_0"/>
          <p:cNvSpPr txBox="1"/>
          <p:nvPr/>
        </p:nvSpPr>
        <p:spPr>
          <a:xfrm>
            <a:off x="616365" y="543679"/>
            <a:ext cx="10192206" cy="664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spAutoFit/>
          </a:bodyPr>
          <a:lstStyle/>
          <a:p>
            <a:pPr>
              <a:defRPr sz="3400" b="1">
                <a:solidFill>
                  <a:srgbClr val="11335F"/>
                </a:solidFill>
                <a:latin typeface="+mj-lt"/>
                <a:ea typeface="+mj-ea"/>
                <a:cs typeface="+mj-cs"/>
                <a:sym typeface="Arial"/>
              </a:defRPr>
            </a:pPr>
            <a:r>
              <a:t>     Our Contributions </a:t>
            </a:r>
          </a:p>
        </p:txBody>
      </p:sp>
      <p:sp>
        <p:nvSpPr>
          <p:cNvPr id="134" name="Google Shape;100;ga60ff6e4fc_1_0"/>
          <p:cNvSpPr txBox="1"/>
          <p:nvPr/>
        </p:nvSpPr>
        <p:spPr>
          <a:xfrm>
            <a:off x="1363710" y="1360068"/>
            <a:ext cx="9464579" cy="34297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8900" tIns="88900" rIns="88900" bIns="88900">
            <a:spAutoFit/>
          </a:bodyPr>
          <a:lstStyle/>
          <a:p>
            <a:pPr marL="406400" indent="-406400" algn="l">
              <a:lnSpc>
                <a:spcPct val="100000"/>
              </a:lnSpc>
              <a:spcBef>
                <a:spcPts val="2000"/>
              </a:spcBef>
              <a:defRPr sz="2400" b="1"/>
            </a:pPr>
            <a:r>
              <a:t>LLM Framework for Long 10-K Event Analysis</a:t>
            </a:r>
          </a:p>
          <a:p>
            <a:pPr algn="l">
              <a:lnSpc>
                <a:spcPct val="120000"/>
              </a:lnSpc>
              <a:defRPr sz="1600">
                <a:solidFill>
                  <a:srgbClr val="595959"/>
                </a:solidFill>
                <a:latin typeface="+mj-lt"/>
                <a:ea typeface="+mj-ea"/>
                <a:cs typeface="+mj-cs"/>
                <a:sym typeface="Arial"/>
              </a:defRPr>
            </a:pPr>
            <a:r>
              <a:t>We propose a Chain-of-Thought–driven framework that lets an LLM read full 10-K sections and extract event-specific snippets at scale, instead of relying on short excerpts or dictionaries.</a:t>
            </a:r>
          </a:p>
          <a:p>
            <a:pPr marL="406400" indent="-406400" algn="l">
              <a:lnSpc>
                <a:spcPct val="100000"/>
              </a:lnSpc>
              <a:spcBef>
                <a:spcPts val="2000"/>
              </a:spcBef>
              <a:defRPr sz="2400" b="1"/>
            </a:pPr>
            <a:r>
              <a:t>Dual Narrative Analysis Across Item 1A &amp; Item 7</a:t>
            </a:r>
          </a:p>
          <a:p>
            <a:pPr algn="l">
              <a:defRPr sz="1600"/>
            </a:pPr>
            <a:r>
              <a:t>We design a </a:t>
            </a:r>
            <a:r>
              <a:rPr b="1"/>
              <a:t>Dual Narrative Analysis (DNA)</a:t>
            </a:r>
            <a:r>
              <a:t> framework that separately quantifies.</a:t>
            </a:r>
          </a:p>
          <a:p>
            <a:pPr marL="406400" indent="-406400" algn="l">
              <a:lnSpc>
                <a:spcPct val="100000"/>
              </a:lnSpc>
              <a:spcBef>
                <a:spcPts val="2000"/>
              </a:spcBef>
              <a:defRPr sz="2400" b="1"/>
            </a:pPr>
            <a:r>
              <a:t>Transparent, Auditable Micro-Scorecards</a:t>
            </a:r>
          </a:p>
          <a:p>
            <a:pPr algn="l">
              <a:lnSpc>
                <a:spcPct val="120000"/>
              </a:lnSpc>
              <a:defRPr sz="1600">
                <a:solidFill>
                  <a:srgbClr val="595959"/>
                </a:solidFill>
                <a:latin typeface="+mj-lt"/>
                <a:ea typeface="+mj-ea"/>
                <a:cs typeface="+mj-cs"/>
                <a:sym typeface="Arial"/>
              </a:defRPr>
            </a:pPr>
            <a:r>
              <a:t>Instead of one-shot 0–10 labels, our LLM generates </a:t>
            </a:r>
            <a:r>
              <a:rPr b="1"/>
              <a:t>micro-scorecards</a:t>
            </a:r>
            <a:r>
              <a:t>: evidence snippets, reason-level plus/minus points, and structured JSON outputs.</a:t>
            </a:r>
          </a:p>
        </p:txBody>
      </p:sp>
      <p:sp>
        <p:nvSpPr>
          <p:cNvPr id="135" name="Line"/>
          <p:cNvSpPr/>
          <p:nvPr/>
        </p:nvSpPr>
        <p:spPr>
          <a:xfrm flipV="1">
            <a:off x="741928" y="1360068"/>
            <a:ext cx="2542" cy="3460510"/>
          </a:xfrm>
          <a:prstGeom prst="line">
            <a:avLst/>
          </a:prstGeom>
          <a:ln w="25400">
            <a:solidFill>
              <a:srgbClr val="11335F"/>
            </a:solidFill>
          </a:ln>
        </p:spPr>
        <p:txBody>
          <a:bodyPr lIns="45718" tIns="45718" rIns="45718" bIns="45718"/>
          <a:lstStyle/>
          <a:p>
            <a:endParaRPr/>
          </a:p>
        </p:txBody>
      </p:sp>
      <p:sp>
        <p:nvSpPr>
          <p:cNvPr id="136" name="Line"/>
          <p:cNvSpPr/>
          <p:nvPr/>
        </p:nvSpPr>
        <p:spPr>
          <a:xfrm flipH="1">
            <a:off x="741928" y="1644581"/>
            <a:ext cx="440939" cy="2"/>
          </a:xfrm>
          <a:prstGeom prst="line">
            <a:avLst/>
          </a:prstGeom>
          <a:ln w="25400">
            <a:solidFill>
              <a:srgbClr val="11335F"/>
            </a:solidFill>
          </a:ln>
        </p:spPr>
        <p:txBody>
          <a:bodyPr lIns="45718" tIns="45718" rIns="45718" bIns="45718"/>
          <a:lstStyle/>
          <a:p>
            <a:endParaRPr/>
          </a:p>
        </p:txBody>
      </p:sp>
      <p:sp>
        <p:nvSpPr>
          <p:cNvPr id="137" name="Circle"/>
          <p:cNvSpPr/>
          <p:nvPr/>
        </p:nvSpPr>
        <p:spPr>
          <a:xfrm>
            <a:off x="680967" y="1581081"/>
            <a:ext cx="127003" cy="127003"/>
          </a:xfrm>
          <a:prstGeom prst="ellipse">
            <a:avLst/>
          </a:prstGeom>
          <a:solidFill>
            <a:srgbClr val="7BB8BA"/>
          </a:solidFill>
          <a:ln w="12700">
            <a:miter lim="400000"/>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138" name="Line"/>
          <p:cNvSpPr/>
          <p:nvPr/>
        </p:nvSpPr>
        <p:spPr>
          <a:xfrm flipH="1">
            <a:off x="741928" y="2920931"/>
            <a:ext cx="440939" cy="2"/>
          </a:xfrm>
          <a:prstGeom prst="line">
            <a:avLst/>
          </a:prstGeom>
          <a:ln w="25400">
            <a:solidFill>
              <a:srgbClr val="11335F"/>
            </a:solidFill>
          </a:ln>
        </p:spPr>
        <p:txBody>
          <a:bodyPr lIns="45718" tIns="45718" rIns="45718" bIns="45718"/>
          <a:lstStyle/>
          <a:p>
            <a:endParaRPr/>
          </a:p>
        </p:txBody>
      </p:sp>
      <p:sp>
        <p:nvSpPr>
          <p:cNvPr id="139" name="Circle"/>
          <p:cNvSpPr/>
          <p:nvPr/>
        </p:nvSpPr>
        <p:spPr>
          <a:xfrm>
            <a:off x="680967" y="2857431"/>
            <a:ext cx="127003" cy="127003"/>
          </a:xfrm>
          <a:prstGeom prst="ellipse">
            <a:avLst/>
          </a:prstGeom>
          <a:solidFill>
            <a:srgbClr val="7BB8BA"/>
          </a:solidFill>
          <a:ln w="12700">
            <a:miter lim="400000"/>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140" name="Line"/>
          <p:cNvSpPr/>
          <p:nvPr/>
        </p:nvSpPr>
        <p:spPr>
          <a:xfrm flipH="1">
            <a:off x="741928" y="3946595"/>
            <a:ext cx="440939" cy="2"/>
          </a:xfrm>
          <a:prstGeom prst="line">
            <a:avLst/>
          </a:prstGeom>
          <a:ln w="25400">
            <a:solidFill>
              <a:srgbClr val="11335F"/>
            </a:solidFill>
          </a:ln>
        </p:spPr>
        <p:txBody>
          <a:bodyPr lIns="45718" tIns="45718" rIns="45718" bIns="45718"/>
          <a:lstStyle/>
          <a:p>
            <a:endParaRPr/>
          </a:p>
        </p:txBody>
      </p:sp>
      <p:sp>
        <p:nvSpPr>
          <p:cNvPr id="141" name="Circle"/>
          <p:cNvSpPr/>
          <p:nvPr/>
        </p:nvSpPr>
        <p:spPr>
          <a:xfrm>
            <a:off x="678427" y="3883093"/>
            <a:ext cx="127002" cy="127003"/>
          </a:xfrm>
          <a:prstGeom prst="ellipse">
            <a:avLst/>
          </a:prstGeom>
          <a:solidFill>
            <a:srgbClr val="7BB8BA"/>
          </a:solidFill>
          <a:ln w="12700">
            <a:miter lim="400000"/>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pic>
        <p:nvPicPr>
          <p:cNvPr id="142" name="Picture 2" descr="Picture 2"/>
          <p:cNvPicPr>
            <a:picLocks noChangeAspect="1"/>
          </p:cNvPicPr>
          <p:nvPr/>
        </p:nvPicPr>
        <p:blipFill>
          <a:blip r:embed="rId3"/>
          <a:stretch>
            <a:fillRect/>
          </a:stretch>
        </p:blipFill>
        <p:spPr>
          <a:xfrm>
            <a:off x="314009" y="469402"/>
            <a:ext cx="816391" cy="816391"/>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Google Shape;99;ga60ff6e4fc_1_0"/>
          <p:cNvSpPr txBox="1"/>
          <p:nvPr/>
        </p:nvSpPr>
        <p:spPr>
          <a:xfrm>
            <a:off x="616365" y="543679"/>
            <a:ext cx="10192206" cy="664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spAutoFit/>
          </a:bodyPr>
          <a:lstStyle>
            <a:lvl1pPr>
              <a:defRPr sz="3400" b="1">
                <a:solidFill>
                  <a:srgbClr val="11335F"/>
                </a:solidFill>
                <a:latin typeface="+mj-lt"/>
                <a:ea typeface="+mj-ea"/>
                <a:cs typeface="+mj-cs"/>
                <a:sym typeface="Arial"/>
              </a:defRPr>
            </a:lvl1pPr>
          </a:lstStyle>
          <a:p>
            <a:r>
              <a:t>Dual Narrative Analysis (DNA) Framework</a:t>
            </a:r>
          </a:p>
        </p:txBody>
      </p:sp>
      <p:sp>
        <p:nvSpPr>
          <p:cNvPr id="147" name="We introduce a Chain-of-Thought (CoT) driven methodology to transform opaque LLM analysis into a transparent, verifiable semantic scoring engine."/>
          <p:cNvSpPr txBox="1"/>
          <p:nvPr/>
        </p:nvSpPr>
        <p:spPr>
          <a:xfrm>
            <a:off x="678676" y="1224125"/>
            <a:ext cx="10371595" cy="5499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l">
              <a:defRPr sz="1600"/>
            </a:lvl1pPr>
          </a:lstStyle>
          <a:p>
            <a:r>
              <a:t>We introduce a Chain-of-Thought (CoT) driven methodology to transform opaque LLM analysis into a transparent, verifiable semantic scoring engine.</a:t>
            </a:r>
          </a:p>
        </p:txBody>
      </p:sp>
      <p:grpSp>
        <p:nvGrpSpPr>
          <p:cNvPr id="153" name="Group"/>
          <p:cNvGrpSpPr/>
          <p:nvPr/>
        </p:nvGrpSpPr>
        <p:grpSpPr>
          <a:xfrm>
            <a:off x="792104" y="1928414"/>
            <a:ext cx="10607794" cy="3469481"/>
            <a:chOff x="0" y="-1"/>
            <a:chExt cx="10607793" cy="3469480"/>
          </a:xfrm>
        </p:grpSpPr>
        <p:pic>
          <p:nvPicPr>
            <p:cNvPr id="148" name="pasted-movie.png" descr="pasted-movie.png"/>
            <p:cNvPicPr>
              <a:picLocks noChangeAspect="1"/>
            </p:cNvPicPr>
            <p:nvPr/>
          </p:nvPicPr>
          <p:blipFill>
            <a:blip r:embed="rId3"/>
            <a:srcRect b="38189"/>
            <a:stretch>
              <a:fillRect/>
            </a:stretch>
          </p:blipFill>
          <p:spPr>
            <a:xfrm>
              <a:off x="0" y="-1"/>
              <a:ext cx="10607793" cy="3001220"/>
            </a:xfrm>
            <a:prstGeom prst="rect">
              <a:avLst/>
            </a:prstGeom>
            <a:ln w="12700" cap="flat">
              <a:noFill/>
              <a:miter lim="400000"/>
            </a:ln>
            <a:effectLst/>
          </p:spPr>
        </p:pic>
        <p:sp>
          <p:nvSpPr>
            <p:cNvPr id="149" name="Structured Prompt"/>
            <p:cNvSpPr txBox="1"/>
            <p:nvPr/>
          </p:nvSpPr>
          <p:spPr>
            <a:xfrm>
              <a:off x="589478" y="3155551"/>
              <a:ext cx="1899204" cy="31339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numCol="1" anchor="t">
              <a:spAutoFit/>
            </a:bodyPr>
            <a:lstStyle>
              <a:lvl1pPr>
                <a:defRPr sz="1600" b="1">
                  <a:latin typeface="+mj-lt"/>
                  <a:ea typeface="+mj-ea"/>
                  <a:cs typeface="+mj-cs"/>
                  <a:sym typeface="Arial"/>
                </a:defRPr>
              </a:lvl1pPr>
            </a:lstStyle>
            <a:p>
              <a:r>
                <a:t>Structured Prompt</a:t>
              </a:r>
            </a:p>
          </p:txBody>
        </p:sp>
        <p:sp>
          <p:nvSpPr>
            <p:cNvPr id="150" name="Two-Step Reasoning"/>
            <p:cNvSpPr txBox="1"/>
            <p:nvPr/>
          </p:nvSpPr>
          <p:spPr>
            <a:xfrm>
              <a:off x="3040578" y="3155551"/>
              <a:ext cx="2098535" cy="31339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numCol="1" anchor="t">
              <a:spAutoFit/>
            </a:bodyPr>
            <a:lstStyle>
              <a:lvl1pPr>
                <a:defRPr sz="1600" b="1">
                  <a:latin typeface="+mj-lt"/>
                  <a:ea typeface="+mj-ea"/>
                  <a:cs typeface="+mj-cs"/>
                  <a:sym typeface="Arial"/>
                </a:defRPr>
              </a:lvl1pPr>
            </a:lstStyle>
            <a:p>
              <a:r>
                <a:t>Two-Step Reasoning</a:t>
              </a:r>
            </a:p>
          </p:txBody>
        </p:sp>
        <p:sp>
          <p:nvSpPr>
            <p:cNvPr id="151" name="Structured Prompt"/>
            <p:cNvSpPr txBox="1"/>
            <p:nvPr/>
          </p:nvSpPr>
          <p:spPr>
            <a:xfrm>
              <a:off x="5784931" y="3155551"/>
              <a:ext cx="1711362" cy="313928"/>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numCol="1" anchor="t">
              <a:spAutoFit/>
            </a:bodyPr>
            <a:lstStyle>
              <a:lvl1pPr>
                <a:defRPr sz="1600" b="1">
                  <a:latin typeface="+mj-lt"/>
                  <a:ea typeface="+mj-ea"/>
                  <a:cs typeface="+mj-cs"/>
                  <a:sym typeface="Arial"/>
                </a:defRPr>
              </a:lvl1pPr>
            </a:lstStyle>
            <a:p>
              <a:r>
                <a:rPr lang="en-US" dirty="0"/>
                <a:t>Micro-Scorecard</a:t>
              </a:r>
              <a:endParaRPr dirty="0"/>
            </a:p>
          </p:txBody>
        </p:sp>
        <p:sp>
          <p:nvSpPr>
            <p:cNvPr id="152" name="Structural JSON Output"/>
            <p:cNvSpPr txBox="1"/>
            <p:nvPr/>
          </p:nvSpPr>
          <p:spPr>
            <a:xfrm>
              <a:off x="8002410" y="3155551"/>
              <a:ext cx="2395894" cy="31339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numCol="1" anchor="t">
              <a:spAutoFit/>
            </a:bodyPr>
            <a:lstStyle>
              <a:lvl1pPr>
                <a:defRPr sz="1600" b="1">
                  <a:latin typeface="+mj-lt"/>
                  <a:ea typeface="+mj-ea"/>
                  <a:cs typeface="+mj-cs"/>
                  <a:sym typeface="Arial"/>
                </a:defRPr>
              </a:lvl1pPr>
            </a:lstStyle>
            <a:p>
              <a:r>
                <a:t>Structural JSON Output</a:t>
              </a:r>
            </a:p>
          </p:txBody>
        </p:sp>
      </p:gr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 name="Screenshot 2025-10-14 at 14.00.08.png" descr="Screenshot 2025-10-14 at 14.00.08.png"/>
          <p:cNvPicPr>
            <a:picLocks noChangeAspect="1"/>
          </p:cNvPicPr>
          <p:nvPr/>
        </p:nvPicPr>
        <p:blipFill>
          <a:blip r:embed="rId3"/>
          <a:stretch>
            <a:fillRect/>
          </a:stretch>
        </p:blipFill>
        <p:spPr>
          <a:xfrm>
            <a:off x="522047" y="298503"/>
            <a:ext cx="11147907" cy="5738378"/>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Google Shape;99;ga60ff6e4fc_1_0"/>
          <p:cNvSpPr txBox="1"/>
          <p:nvPr/>
        </p:nvSpPr>
        <p:spPr>
          <a:xfrm>
            <a:off x="457062" y="328613"/>
            <a:ext cx="10192206" cy="664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spAutoFit/>
          </a:bodyPr>
          <a:lstStyle>
            <a:lvl1pPr>
              <a:defRPr sz="3400" b="1">
                <a:solidFill>
                  <a:srgbClr val="11335F"/>
                </a:solidFill>
                <a:latin typeface="+mj-lt"/>
                <a:ea typeface="+mj-ea"/>
                <a:cs typeface="+mj-cs"/>
                <a:sym typeface="Arial"/>
              </a:defRPr>
            </a:lvl1pPr>
          </a:lstStyle>
          <a:p>
            <a:r>
              <a:t>Dual Narrative Analysis (DNA) Framework</a:t>
            </a:r>
          </a:p>
        </p:txBody>
      </p:sp>
      <p:sp>
        <p:nvSpPr>
          <p:cNvPr id="162" name="Our hierarchical scoring process ensures every score is tied to explicit textual evidence, ensuring verifiability."/>
          <p:cNvSpPr txBox="1"/>
          <p:nvPr/>
        </p:nvSpPr>
        <p:spPr>
          <a:xfrm>
            <a:off x="519371" y="1009058"/>
            <a:ext cx="10371598" cy="332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l">
              <a:defRPr sz="1600"/>
            </a:lvl1pPr>
          </a:lstStyle>
          <a:p>
            <a:r>
              <a:t>Our hierarchical scoring process ensures every score is tied to explicit textual evidence, ensuring verifiability.</a:t>
            </a:r>
          </a:p>
        </p:txBody>
      </p:sp>
      <p:sp>
        <p:nvSpPr>
          <p:cNvPr id="163" name="Google Shape;100;ga60ff6e4fc_1_0"/>
          <p:cNvSpPr txBox="1"/>
          <p:nvPr/>
        </p:nvSpPr>
        <p:spPr>
          <a:xfrm>
            <a:off x="6688177" y="2394082"/>
            <a:ext cx="4800007" cy="1168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8900" tIns="88900" rIns="88900" bIns="88900">
            <a:spAutoFit/>
          </a:bodyPr>
          <a:lstStyle/>
          <a:p>
            <a:pPr marL="406400" indent="-406400" algn="l">
              <a:lnSpc>
                <a:spcPct val="100000"/>
              </a:lnSpc>
              <a:spcBef>
                <a:spcPts val="2000"/>
              </a:spcBef>
              <a:defRPr sz="2400" b="1"/>
            </a:pPr>
            <a:r>
              <a:t>Level 2: Snippet Identification</a:t>
            </a:r>
          </a:p>
          <a:p>
            <a:pPr algn="l">
              <a:lnSpc>
                <a:spcPct val="120000"/>
              </a:lnSpc>
              <a:defRPr sz="1600">
                <a:solidFill>
                  <a:srgbClr val="595959"/>
                </a:solidFill>
                <a:latin typeface="+mj-lt"/>
                <a:ea typeface="+mj-ea"/>
                <a:cs typeface="+mj-cs"/>
                <a:sym typeface="Arial"/>
              </a:defRPr>
            </a:pPr>
            <a:r>
              <a:t>LLM isolates text snippets relevant to the target global event (e.g., COVID-19).</a:t>
            </a:r>
          </a:p>
        </p:txBody>
      </p:sp>
      <p:sp>
        <p:nvSpPr>
          <p:cNvPr id="164" name="Line"/>
          <p:cNvSpPr/>
          <p:nvPr/>
        </p:nvSpPr>
        <p:spPr>
          <a:xfrm flipV="1">
            <a:off x="6115877" y="1659156"/>
            <a:ext cx="1" cy="4137127"/>
          </a:xfrm>
          <a:prstGeom prst="line">
            <a:avLst/>
          </a:prstGeom>
          <a:ln w="25400">
            <a:solidFill>
              <a:srgbClr val="11335F"/>
            </a:solidFill>
          </a:ln>
        </p:spPr>
        <p:txBody>
          <a:bodyPr lIns="45718" tIns="45718" rIns="45718" bIns="45718"/>
          <a:lstStyle/>
          <a:p>
            <a:endParaRPr/>
          </a:p>
        </p:txBody>
      </p:sp>
      <p:sp>
        <p:nvSpPr>
          <p:cNvPr id="165" name="Line"/>
          <p:cNvSpPr/>
          <p:nvPr/>
        </p:nvSpPr>
        <p:spPr>
          <a:xfrm flipH="1">
            <a:off x="5661461" y="1943668"/>
            <a:ext cx="440940" cy="2"/>
          </a:xfrm>
          <a:prstGeom prst="line">
            <a:avLst/>
          </a:prstGeom>
          <a:ln w="25400">
            <a:solidFill>
              <a:srgbClr val="11335F"/>
            </a:solidFill>
          </a:ln>
        </p:spPr>
        <p:txBody>
          <a:bodyPr lIns="45718" tIns="45718" rIns="45718" bIns="45718"/>
          <a:lstStyle/>
          <a:p>
            <a:endParaRPr/>
          </a:p>
        </p:txBody>
      </p:sp>
      <p:sp>
        <p:nvSpPr>
          <p:cNvPr id="166" name="Circle"/>
          <p:cNvSpPr/>
          <p:nvPr/>
        </p:nvSpPr>
        <p:spPr>
          <a:xfrm>
            <a:off x="6052377" y="1880168"/>
            <a:ext cx="127001" cy="127003"/>
          </a:xfrm>
          <a:prstGeom prst="ellipse">
            <a:avLst/>
          </a:prstGeom>
          <a:solidFill>
            <a:srgbClr val="7BB8BA"/>
          </a:solidFill>
          <a:ln w="12700">
            <a:miter lim="400000"/>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167" name="Line"/>
          <p:cNvSpPr/>
          <p:nvPr/>
        </p:nvSpPr>
        <p:spPr>
          <a:xfrm flipH="1">
            <a:off x="6094260" y="2680235"/>
            <a:ext cx="485861" cy="2"/>
          </a:xfrm>
          <a:prstGeom prst="line">
            <a:avLst/>
          </a:prstGeom>
          <a:ln w="25400">
            <a:solidFill>
              <a:srgbClr val="11335F"/>
            </a:solidFill>
          </a:ln>
        </p:spPr>
        <p:txBody>
          <a:bodyPr lIns="45718" tIns="45718" rIns="45718" bIns="45718"/>
          <a:lstStyle/>
          <a:p>
            <a:endParaRPr/>
          </a:p>
        </p:txBody>
      </p:sp>
      <p:sp>
        <p:nvSpPr>
          <p:cNvPr id="168" name="Circle"/>
          <p:cNvSpPr/>
          <p:nvPr/>
        </p:nvSpPr>
        <p:spPr>
          <a:xfrm>
            <a:off x="6052377" y="2616735"/>
            <a:ext cx="127001" cy="127003"/>
          </a:xfrm>
          <a:prstGeom prst="ellipse">
            <a:avLst/>
          </a:prstGeom>
          <a:solidFill>
            <a:srgbClr val="7BB8BA"/>
          </a:solidFill>
          <a:ln w="12700">
            <a:miter lim="400000"/>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169" name="Line"/>
          <p:cNvSpPr/>
          <p:nvPr/>
        </p:nvSpPr>
        <p:spPr>
          <a:xfrm flipH="1">
            <a:off x="6105318" y="4434414"/>
            <a:ext cx="440939" cy="2"/>
          </a:xfrm>
          <a:prstGeom prst="line">
            <a:avLst/>
          </a:prstGeom>
          <a:ln w="25400">
            <a:solidFill>
              <a:srgbClr val="11335F"/>
            </a:solidFill>
          </a:ln>
        </p:spPr>
        <p:txBody>
          <a:bodyPr lIns="45718" tIns="45718" rIns="45718" bIns="45718"/>
          <a:lstStyle/>
          <a:p>
            <a:endParaRPr/>
          </a:p>
        </p:txBody>
      </p:sp>
      <p:sp>
        <p:nvSpPr>
          <p:cNvPr id="170" name="Circle"/>
          <p:cNvSpPr/>
          <p:nvPr/>
        </p:nvSpPr>
        <p:spPr>
          <a:xfrm>
            <a:off x="6052377" y="4370914"/>
            <a:ext cx="127001" cy="127003"/>
          </a:xfrm>
          <a:prstGeom prst="ellipse">
            <a:avLst/>
          </a:prstGeom>
          <a:solidFill>
            <a:srgbClr val="7BB8BA"/>
          </a:solidFill>
          <a:ln w="12700">
            <a:miter lim="400000"/>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171" name="Google Shape;100;ga60ff6e4fc_1_0"/>
          <p:cNvSpPr txBox="1"/>
          <p:nvPr/>
        </p:nvSpPr>
        <p:spPr>
          <a:xfrm>
            <a:off x="743571" y="1642154"/>
            <a:ext cx="4800007" cy="1168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8900" tIns="88900" rIns="88900" bIns="88900">
            <a:spAutoFit/>
          </a:bodyPr>
          <a:lstStyle/>
          <a:p>
            <a:pPr marL="406400" indent="-406400" algn="r">
              <a:lnSpc>
                <a:spcPct val="100000"/>
              </a:lnSpc>
              <a:spcBef>
                <a:spcPts val="2000"/>
              </a:spcBef>
              <a:defRPr sz="2400" b="1"/>
            </a:pPr>
            <a:r>
              <a:t>Level 1: Item Category</a:t>
            </a:r>
          </a:p>
          <a:p>
            <a:pPr algn="r">
              <a:lnSpc>
                <a:spcPct val="120000"/>
              </a:lnSpc>
              <a:defRPr sz="1600">
                <a:solidFill>
                  <a:srgbClr val="595959"/>
                </a:solidFill>
                <a:latin typeface="+mj-lt"/>
                <a:ea typeface="+mj-ea"/>
                <a:cs typeface="+mj-cs"/>
                <a:sym typeface="Arial"/>
              </a:defRPr>
            </a:pPr>
            <a:r>
              <a:t>LLM determines the corresponding 10-K section (Item 1A or Item 7).</a:t>
            </a:r>
          </a:p>
        </p:txBody>
      </p:sp>
      <p:sp>
        <p:nvSpPr>
          <p:cNvPr id="172" name="Google Shape;100;ga60ff6e4fc_1_0"/>
          <p:cNvSpPr txBox="1"/>
          <p:nvPr/>
        </p:nvSpPr>
        <p:spPr>
          <a:xfrm>
            <a:off x="743571" y="3366642"/>
            <a:ext cx="4800007" cy="14410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8900" tIns="88900" rIns="88900" bIns="88900">
            <a:spAutoFit/>
          </a:bodyPr>
          <a:lstStyle/>
          <a:p>
            <a:pPr marL="406400" indent="-406400" algn="r">
              <a:lnSpc>
                <a:spcPct val="100000"/>
              </a:lnSpc>
              <a:spcBef>
                <a:spcPts val="2000"/>
              </a:spcBef>
              <a:defRPr sz="2400" b="1"/>
            </a:pPr>
            <a:r>
              <a:t>Level 3: Component Scoring</a:t>
            </a:r>
          </a:p>
          <a:p>
            <a:pPr algn="r">
              <a:lnSpc>
                <a:spcPct val="120000"/>
              </a:lnSpc>
              <a:defRPr sz="1600">
                <a:solidFill>
                  <a:srgbClr val="595959"/>
                </a:solidFill>
                <a:latin typeface="+mj-lt"/>
                <a:ea typeface="+mj-ea"/>
                <a:cs typeface="+mj-cs"/>
                <a:sym typeface="Arial"/>
              </a:defRPr>
            </a:pPr>
            <a:r>
              <a:t>Most granular level: LLM assigns positive (aggravating) or negative (mitigating) points to specific semantic components.</a:t>
            </a:r>
          </a:p>
        </p:txBody>
      </p:sp>
      <p:sp>
        <p:nvSpPr>
          <p:cNvPr id="173" name="Google Shape;100;ga60ff6e4fc_1_0"/>
          <p:cNvSpPr txBox="1"/>
          <p:nvPr/>
        </p:nvSpPr>
        <p:spPr>
          <a:xfrm>
            <a:off x="6688177" y="4132314"/>
            <a:ext cx="4800007" cy="14410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8900" tIns="88900" rIns="88900" bIns="88900">
            <a:spAutoFit/>
          </a:bodyPr>
          <a:lstStyle/>
          <a:p>
            <a:pPr marL="406400" indent="-406400" algn="l">
              <a:lnSpc>
                <a:spcPct val="100000"/>
              </a:lnSpc>
              <a:spcBef>
                <a:spcPts val="2000"/>
              </a:spcBef>
              <a:defRPr sz="2400" b="1"/>
            </a:pPr>
            <a:r>
              <a:t>Bottom-Up Aggregation</a:t>
            </a:r>
          </a:p>
          <a:p>
            <a:pPr algn="l">
              <a:lnSpc>
                <a:spcPct val="120000"/>
              </a:lnSpc>
              <a:defRPr sz="1600">
                <a:solidFill>
                  <a:srgbClr val="595959"/>
                </a:solidFill>
                <a:latin typeface="+mj-lt"/>
                <a:ea typeface="+mj-ea"/>
                <a:cs typeface="+mj-cs"/>
                <a:sym typeface="Arial"/>
              </a:defRPr>
            </a:pPr>
            <a:r>
              <a:t>Component scores aggregate to Snippet scores, retaining detailed reason chains for audit requirements.</a:t>
            </a:r>
          </a:p>
        </p:txBody>
      </p:sp>
      <p:sp>
        <p:nvSpPr>
          <p:cNvPr id="174" name="Line"/>
          <p:cNvSpPr/>
          <p:nvPr/>
        </p:nvSpPr>
        <p:spPr>
          <a:xfrm flipH="1">
            <a:off x="5661461" y="3651518"/>
            <a:ext cx="440940" cy="2"/>
          </a:xfrm>
          <a:prstGeom prst="line">
            <a:avLst/>
          </a:prstGeom>
          <a:ln w="25400">
            <a:solidFill>
              <a:srgbClr val="11335F"/>
            </a:solidFill>
          </a:ln>
        </p:spPr>
        <p:txBody>
          <a:bodyPr lIns="45718" tIns="45718" rIns="45718" bIns="45718"/>
          <a:lstStyle/>
          <a:p>
            <a:endParaRPr/>
          </a:p>
        </p:txBody>
      </p:sp>
      <p:sp>
        <p:nvSpPr>
          <p:cNvPr id="175" name="Circle"/>
          <p:cNvSpPr/>
          <p:nvPr/>
        </p:nvSpPr>
        <p:spPr>
          <a:xfrm>
            <a:off x="6052377" y="3588018"/>
            <a:ext cx="127001" cy="127003"/>
          </a:xfrm>
          <a:prstGeom prst="ellipse">
            <a:avLst/>
          </a:prstGeom>
          <a:solidFill>
            <a:srgbClr val="7BB8BA"/>
          </a:solidFill>
          <a:ln w="12700">
            <a:miter lim="400000"/>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Google Shape;99;ga60ff6e4fc_1_0"/>
          <p:cNvSpPr txBox="1"/>
          <p:nvPr/>
        </p:nvSpPr>
        <p:spPr>
          <a:xfrm>
            <a:off x="616365" y="543679"/>
            <a:ext cx="10192206" cy="664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spAutoFit/>
          </a:bodyPr>
          <a:lstStyle>
            <a:lvl1pPr>
              <a:defRPr sz="3400" b="1">
                <a:solidFill>
                  <a:srgbClr val="11335F"/>
                </a:solidFill>
                <a:latin typeface="+mj-lt"/>
                <a:ea typeface="+mj-ea"/>
                <a:cs typeface="+mj-cs"/>
                <a:sym typeface="Arial"/>
              </a:defRPr>
            </a:lvl1pPr>
          </a:lstStyle>
          <a:p>
            <a:r>
              <a:t>Quantifying the Dual Narrative</a:t>
            </a:r>
          </a:p>
        </p:txBody>
      </p:sp>
      <p:sp>
        <p:nvSpPr>
          <p:cNvPr id="180" name="The DNA framework separates risk perception from managerial action, analyzing two critical sections of the 10-K filing."/>
          <p:cNvSpPr txBox="1"/>
          <p:nvPr/>
        </p:nvSpPr>
        <p:spPr>
          <a:xfrm>
            <a:off x="678676" y="1224125"/>
            <a:ext cx="10371595" cy="5499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l">
              <a:defRPr sz="1600"/>
            </a:lvl1pPr>
          </a:lstStyle>
          <a:p>
            <a:r>
              <a:t>The DNA framework separates risk perception from managerial action, analyzing two critical sections of the 10-K filing.</a:t>
            </a:r>
          </a:p>
        </p:txBody>
      </p:sp>
      <p:grpSp>
        <p:nvGrpSpPr>
          <p:cNvPr id="187" name="Group"/>
          <p:cNvGrpSpPr/>
          <p:nvPr/>
        </p:nvGrpSpPr>
        <p:grpSpPr>
          <a:xfrm>
            <a:off x="5824837" y="1941240"/>
            <a:ext cx="5716335" cy="3986068"/>
            <a:chOff x="0" y="0"/>
            <a:chExt cx="5716334" cy="3986067"/>
          </a:xfrm>
        </p:grpSpPr>
        <p:pic>
          <p:nvPicPr>
            <p:cNvPr id="181" name="mitigation.svg" descr="mitigation.svg"/>
            <p:cNvPicPr>
              <a:picLocks noChangeAspect="1"/>
            </p:cNvPicPr>
            <p:nvPr/>
          </p:nvPicPr>
          <p:blipFill>
            <a:blip r:embed="rId3"/>
            <a:stretch>
              <a:fillRect/>
            </a:stretch>
          </p:blipFill>
          <p:spPr>
            <a:xfrm>
              <a:off x="2773154" y="-1"/>
              <a:ext cx="549912" cy="549912"/>
            </a:xfrm>
            <a:prstGeom prst="rect">
              <a:avLst/>
            </a:prstGeom>
            <a:ln w="12700" cap="flat">
              <a:noFill/>
              <a:miter lim="400000"/>
            </a:ln>
            <a:effectLst/>
          </p:spPr>
        </p:pic>
        <p:sp>
          <p:nvSpPr>
            <p:cNvPr id="182" name="Rounded Rectangle"/>
            <p:cNvSpPr/>
            <p:nvPr/>
          </p:nvSpPr>
          <p:spPr>
            <a:xfrm>
              <a:off x="0" y="12700"/>
              <a:ext cx="5716335" cy="3973368"/>
            </a:xfrm>
            <a:prstGeom prst="roundRect">
              <a:avLst>
                <a:gd name="adj" fmla="val 8818"/>
              </a:avLst>
            </a:prstGeom>
            <a:solidFill>
              <a:srgbClr val="FFFFFF"/>
            </a:solidFill>
            <a:ln w="50800" cap="flat">
              <a:solidFill>
                <a:srgbClr val="00C800"/>
              </a:solidFill>
              <a:custDash>
                <a:ds d="200000" sp="200000"/>
              </a:custDash>
              <a:miter lim="400000"/>
            </a:ln>
            <a:effectLst/>
          </p:spPr>
          <p:txBody>
            <a:bodyPr wrap="square" lIns="45718" tIns="45718" rIns="45718" bIns="45718" numCol="1" anchor="ctr">
              <a:noAutofit/>
            </a:bodyPr>
            <a:lstStyle/>
            <a:p>
              <a:pPr algn="ctr">
                <a:lnSpc>
                  <a:spcPct val="100000"/>
                </a:lnSpc>
                <a:spcBef>
                  <a:spcPts val="0"/>
                </a:spcBef>
                <a:defRPr sz="1400" b="1">
                  <a:latin typeface="+mj-lt"/>
                  <a:ea typeface="+mj-ea"/>
                  <a:cs typeface="+mj-cs"/>
                  <a:sym typeface="Arial"/>
                </a:defRPr>
              </a:pPr>
              <a:endParaRPr/>
            </a:p>
          </p:txBody>
        </p:sp>
        <p:sp>
          <p:nvSpPr>
            <p:cNvPr id="183" name="Rounded Rectangle"/>
            <p:cNvSpPr/>
            <p:nvPr/>
          </p:nvSpPr>
          <p:spPr>
            <a:xfrm>
              <a:off x="0" y="-1"/>
              <a:ext cx="5716335" cy="638626"/>
            </a:xfrm>
            <a:prstGeom prst="roundRect">
              <a:avLst>
                <a:gd name="adj" fmla="val 50000"/>
              </a:avLst>
            </a:prstGeom>
            <a:solidFill>
              <a:srgbClr val="00C800"/>
            </a:solidFill>
            <a:ln w="12700" cap="flat">
              <a:noFill/>
              <a:miter lim="400000"/>
            </a:ln>
            <a:effectLst/>
          </p:spPr>
          <p:txBody>
            <a:bodyPr wrap="square" lIns="45718" tIns="45718" rIns="45718" bIns="45718" numCol="1" anchor="ctr">
              <a:noAutofit/>
            </a:bodyPr>
            <a:lstStyle/>
            <a:p>
              <a:pPr algn="ctr">
                <a:lnSpc>
                  <a:spcPct val="100000"/>
                </a:lnSpc>
                <a:spcBef>
                  <a:spcPts val="0"/>
                </a:spcBef>
                <a:defRPr sz="1400" b="1">
                  <a:latin typeface="+mj-lt"/>
                  <a:ea typeface="+mj-ea"/>
                  <a:cs typeface="+mj-cs"/>
                  <a:sym typeface="Arial"/>
                </a:defRPr>
              </a:pPr>
              <a:endParaRPr/>
            </a:p>
          </p:txBody>
        </p:sp>
        <p:pic>
          <p:nvPicPr>
            <p:cNvPr id="184" name="economy.svg" descr="economy.svg"/>
            <p:cNvPicPr>
              <a:picLocks noChangeAspect="1"/>
            </p:cNvPicPr>
            <p:nvPr/>
          </p:nvPicPr>
          <p:blipFill>
            <a:blip r:embed="rId4"/>
            <a:stretch>
              <a:fillRect/>
            </a:stretch>
          </p:blipFill>
          <p:spPr>
            <a:xfrm>
              <a:off x="212690" y="46260"/>
              <a:ext cx="546103" cy="546103"/>
            </a:xfrm>
            <a:prstGeom prst="rect">
              <a:avLst/>
            </a:prstGeom>
            <a:ln w="12700" cap="flat">
              <a:noFill/>
              <a:miter lim="400000"/>
            </a:ln>
            <a:effectLst/>
          </p:spPr>
        </p:pic>
        <p:sp>
          <p:nvSpPr>
            <p:cNvPr id="185" name="Item 7: MD&amp;A"/>
            <p:cNvSpPr txBox="1"/>
            <p:nvPr/>
          </p:nvSpPr>
          <p:spPr>
            <a:xfrm>
              <a:off x="1928904" y="89440"/>
              <a:ext cx="2085488" cy="45973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numCol="1" anchor="t">
              <a:spAutoFit/>
            </a:bodyPr>
            <a:lstStyle>
              <a:lvl1pPr marL="406400" indent="-406400" algn="r">
                <a:lnSpc>
                  <a:spcPct val="100000"/>
                </a:lnSpc>
                <a:spcBef>
                  <a:spcPts val="2000"/>
                </a:spcBef>
                <a:defRPr sz="2400" b="1"/>
              </a:lvl1pPr>
            </a:lstStyle>
            <a:p>
              <a:r>
                <a:t>Item 7: MD&amp;A</a:t>
              </a:r>
            </a:p>
          </p:txBody>
        </p:sp>
        <p:sp>
          <p:nvSpPr>
            <p:cNvPr id="186" name="Focus: Management's strategic perspective and narrative freedom.…"/>
            <p:cNvSpPr txBox="1"/>
            <p:nvPr/>
          </p:nvSpPr>
          <p:spPr>
            <a:xfrm>
              <a:off x="391539" y="715365"/>
              <a:ext cx="5160219" cy="252983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p>
              <a:pPr algn="l" defTabSz="457200">
                <a:lnSpc>
                  <a:spcPct val="140000"/>
                </a:lnSpc>
                <a:spcBef>
                  <a:spcPts val="600"/>
                </a:spcBef>
                <a:defRPr b="1">
                  <a:solidFill>
                    <a:srgbClr val="5A6472"/>
                  </a:solidFill>
                  <a:latin typeface="Times Roman"/>
                  <a:ea typeface="Times Roman"/>
                  <a:cs typeface="Times Roman"/>
                  <a:sym typeface="Times Roman"/>
                </a:defRPr>
              </a:pPr>
              <a:r>
                <a:t>Focus:</a:t>
              </a:r>
              <a:r>
                <a:rPr b="0"/>
                <a:t> Management's strategic perspective and narrative freedom.</a:t>
              </a:r>
              <a:endParaRPr sz="1200"/>
            </a:p>
            <a:p>
              <a:pPr marL="381000" indent="-381000" algn="l" defTabSz="457200">
                <a:lnSpc>
                  <a:spcPct val="140000"/>
                </a:lnSpc>
                <a:spcBef>
                  <a:spcPts val="0"/>
                </a:spcBef>
                <a:buSzPct val="60000"/>
                <a:buBlip>
                  <a:blip r:embed="rId5"/>
                </a:buBlip>
                <a:defRPr>
                  <a:solidFill>
                    <a:srgbClr val="5A6472"/>
                  </a:solidFill>
                  <a:latin typeface="Times Roman"/>
                  <a:ea typeface="Times Roman"/>
                  <a:cs typeface="Times Roman"/>
                  <a:sym typeface="Times Roman"/>
                </a:defRPr>
              </a:pPr>
              <a:r>
                <a:t>Proactive, explanatory, forward-looking tone.</a:t>
              </a:r>
              <a:endParaRPr sz="1200"/>
            </a:p>
            <a:p>
              <a:pPr marL="381000" indent="-381000" algn="l" defTabSz="457200">
                <a:lnSpc>
                  <a:spcPct val="140000"/>
                </a:lnSpc>
                <a:spcBef>
                  <a:spcPts val="0"/>
                </a:spcBef>
                <a:buSzPct val="60000"/>
                <a:buBlip>
                  <a:blip r:embed="rId5"/>
                </a:buBlip>
                <a:defRPr>
                  <a:solidFill>
                    <a:srgbClr val="5A6472"/>
                  </a:solidFill>
                  <a:latin typeface="Times Roman"/>
                  <a:ea typeface="Times Roman"/>
                  <a:cs typeface="Times Roman"/>
                  <a:sym typeface="Times Roman"/>
                </a:defRPr>
              </a:pPr>
              <a:r>
                <a:t>Quantifies the </a:t>
              </a:r>
              <a:r>
                <a:rPr b="1">
                  <a:solidFill>
                    <a:srgbClr val="002A54"/>
                  </a:solidFill>
                </a:rPr>
                <a:t>Response Score</a:t>
              </a:r>
              <a:r>
                <a:t> (proactivity and quality of management's countermeasures).</a:t>
              </a:r>
            </a:p>
          </p:txBody>
        </p:sp>
      </p:grpSp>
      <p:grpSp>
        <p:nvGrpSpPr>
          <p:cNvPr id="194" name="Group"/>
          <p:cNvGrpSpPr/>
          <p:nvPr/>
        </p:nvGrpSpPr>
        <p:grpSpPr>
          <a:xfrm>
            <a:off x="650829" y="1941240"/>
            <a:ext cx="4873086" cy="3986068"/>
            <a:chOff x="0" y="0"/>
            <a:chExt cx="4873085" cy="3986067"/>
          </a:xfrm>
        </p:grpSpPr>
        <p:grpSp>
          <p:nvGrpSpPr>
            <p:cNvPr id="192" name="Group"/>
            <p:cNvGrpSpPr/>
            <p:nvPr/>
          </p:nvGrpSpPr>
          <p:grpSpPr>
            <a:xfrm>
              <a:off x="0" y="-1"/>
              <a:ext cx="4873086" cy="3986069"/>
              <a:chOff x="0" y="0"/>
              <a:chExt cx="4873085" cy="3986067"/>
            </a:xfrm>
          </p:grpSpPr>
          <p:sp>
            <p:nvSpPr>
              <p:cNvPr id="188" name="Rounded Rectangle"/>
              <p:cNvSpPr/>
              <p:nvPr/>
            </p:nvSpPr>
            <p:spPr>
              <a:xfrm>
                <a:off x="0" y="12700"/>
                <a:ext cx="4873086" cy="3973368"/>
              </a:xfrm>
              <a:prstGeom prst="roundRect">
                <a:avLst>
                  <a:gd name="adj" fmla="val 8818"/>
                </a:avLst>
              </a:prstGeom>
              <a:solidFill>
                <a:srgbClr val="FFFFFF"/>
              </a:solidFill>
              <a:ln w="50800" cap="flat">
                <a:solidFill>
                  <a:srgbClr val="FF7E79"/>
                </a:solidFill>
                <a:custDash>
                  <a:ds d="200000" sp="200000"/>
                </a:custDash>
                <a:miter lim="400000"/>
              </a:ln>
              <a:effectLst/>
            </p:spPr>
            <p:txBody>
              <a:bodyPr wrap="square" lIns="45718" tIns="45718" rIns="45718" bIns="45718" numCol="1" anchor="ctr">
                <a:noAutofit/>
              </a:bodyPr>
              <a:lstStyle/>
              <a:p>
                <a:pPr algn="ctr">
                  <a:lnSpc>
                    <a:spcPct val="100000"/>
                  </a:lnSpc>
                  <a:spcBef>
                    <a:spcPts val="0"/>
                  </a:spcBef>
                  <a:defRPr sz="1400" b="1">
                    <a:solidFill>
                      <a:srgbClr val="FF7E79"/>
                    </a:solidFill>
                    <a:latin typeface="+mj-lt"/>
                    <a:ea typeface="+mj-ea"/>
                    <a:cs typeface="+mj-cs"/>
                    <a:sym typeface="Arial"/>
                  </a:defRPr>
                </a:pPr>
                <a:endParaRPr/>
              </a:p>
            </p:txBody>
          </p:sp>
          <p:sp>
            <p:nvSpPr>
              <p:cNvPr id="189" name="Rounded Rectangle"/>
              <p:cNvSpPr/>
              <p:nvPr/>
            </p:nvSpPr>
            <p:spPr>
              <a:xfrm>
                <a:off x="0" y="-1"/>
                <a:ext cx="4873086" cy="638626"/>
              </a:xfrm>
              <a:prstGeom prst="roundRect">
                <a:avLst>
                  <a:gd name="adj" fmla="val 50000"/>
                </a:avLst>
              </a:prstGeom>
              <a:solidFill>
                <a:srgbClr val="CB0000"/>
              </a:solidFill>
              <a:ln w="12700" cap="flat">
                <a:noFill/>
                <a:miter lim="400000"/>
              </a:ln>
              <a:effectLst/>
            </p:spPr>
            <p:txBody>
              <a:bodyPr wrap="square" lIns="45718" tIns="45718" rIns="45718" bIns="45718" numCol="1" anchor="ctr">
                <a:noAutofit/>
              </a:bodyPr>
              <a:lstStyle/>
              <a:p>
                <a:pPr algn="ctr">
                  <a:lnSpc>
                    <a:spcPct val="100000"/>
                  </a:lnSpc>
                  <a:spcBef>
                    <a:spcPts val="0"/>
                  </a:spcBef>
                  <a:defRPr sz="1400" b="1">
                    <a:latin typeface="+mj-lt"/>
                    <a:ea typeface="+mj-ea"/>
                    <a:cs typeface="+mj-cs"/>
                    <a:sym typeface="Arial"/>
                  </a:defRPr>
                </a:pPr>
                <a:endParaRPr/>
              </a:p>
            </p:txBody>
          </p:sp>
          <p:sp>
            <p:nvSpPr>
              <p:cNvPr id="190" name="Item 1A: Risks Factors"/>
              <p:cNvSpPr txBox="1"/>
              <p:nvPr/>
            </p:nvSpPr>
            <p:spPr>
              <a:xfrm>
                <a:off x="940268" y="89441"/>
                <a:ext cx="3390413" cy="45973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numCol="1" anchor="t">
                <a:spAutoFit/>
              </a:bodyPr>
              <a:lstStyle>
                <a:lvl1pPr marL="406400" indent="-406400" algn="r">
                  <a:lnSpc>
                    <a:spcPct val="100000"/>
                  </a:lnSpc>
                  <a:spcBef>
                    <a:spcPts val="2000"/>
                  </a:spcBef>
                  <a:defRPr sz="2400" b="1">
                    <a:solidFill>
                      <a:srgbClr val="FFFFFF"/>
                    </a:solidFill>
                  </a:defRPr>
                </a:lvl1pPr>
              </a:lstStyle>
              <a:p>
                <a:r>
                  <a:t>Item 1A: Risks Factors</a:t>
                </a:r>
              </a:p>
            </p:txBody>
          </p:sp>
          <p:sp>
            <p:nvSpPr>
              <p:cNvPr id="191" name="Focus: Legally mandated disclosure of material risks.…"/>
              <p:cNvSpPr txBox="1"/>
              <p:nvPr/>
            </p:nvSpPr>
            <p:spPr>
              <a:xfrm>
                <a:off x="217559" y="910992"/>
                <a:ext cx="4437967" cy="222503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p>
                <a:pPr algn="l" defTabSz="457200">
                  <a:lnSpc>
                    <a:spcPct val="150000"/>
                  </a:lnSpc>
                  <a:spcBef>
                    <a:spcPts val="600"/>
                  </a:spcBef>
                  <a:defRPr b="1">
                    <a:solidFill>
                      <a:srgbClr val="5A6472"/>
                    </a:solidFill>
                    <a:latin typeface="Times Roman"/>
                    <a:ea typeface="Times Roman"/>
                    <a:cs typeface="Times Roman"/>
                    <a:sym typeface="Times Roman"/>
                  </a:defRPr>
                </a:pPr>
                <a:r>
                  <a:t>Focus:</a:t>
                </a:r>
                <a:r>
                  <a:rPr b="0"/>
                  <a:t> Legally mandated disclosure of material risks.</a:t>
                </a:r>
                <a:endParaRPr sz="1200"/>
              </a:p>
              <a:p>
                <a:pPr marL="381000" indent="-381000" algn="l" defTabSz="457200">
                  <a:lnSpc>
                    <a:spcPct val="150000"/>
                  </a:lnSpc>
                  <a:spcBef>
                    <a:spcPts val="0"/>
                  </a:spcBef>
                  <a:buSzPct val="60000"/>
                  <a:buBlip>
                    <a:blip r:embed="rId5"/>
                  </a:buBlip>
                  <a:defRPr>
                    <a:solidFill>
                      <a:srgbClr val="5A6472"/>
                    </a:solidFill>
                    <a:latin typeface="Times Roman"/>
                    <a:ea typeface="Times Roman"/>
                    <a:cs typeface="Times Roman"/>
                    <a:sym typeface="Times Roman"/>
                  </a:defRPr>
                </a:pPr>
                <a:r>
                  <a:t>Formal, legalistic, conservative tone.</a:t>
                </a:r>
                <a:endParaRPr sz="1200"/>
              </a:p>
              <a:p>
                <a:pPr marL="381000" indent="-381000" algn="l" defTabSz="457200">
                  <a:lnSpc>
                    <a:spcPct val="150000"/>
                  </a:lnSpc>
                  <a:spcBef>
                    <a:spcPts val="0"/>
                  </a:spcBef>
                  <a:buSzPct val="60000"/>
                  <a:buBlip>
                    <a:blip r:embed="rId5"/>
                  </a:buBlip>
                  <a:defRPr>
                    <a:solidFill>
                      <a:srgbClr val="5A6472"/>
                    </a:solidFill>
                    <a:latin typeface="Times Roman"/>
                    <a:ea typeface="Times Roman"/>
                    <a:cs typeface="Times Roman"/>
                    <a:sym typeface="Times Roman"/>
                  </a:defRPr>
                </a:pPr>
                <a:r>
                  <a:t>Quantifies the </a:t>
                </a:r>
                <a:r>
                  <a:rPr b="1">
                    <a:solidFill>
                      <a:srgbClr val="002A54"/>
                    </a:solidFill>
                  </a:rPr>
                  <a:t>Impact Score</a:t>
                </a:r>
                <a:r>
                  <a:t> (severity of potential negative consequences).</a:t>
                </a:r>
              </a:p>
            </p:txBody>
          </p:sp>
        </p:grpSp>
        <p:pic>
          <p:nvPicPr>
            <p:cNvPr id="193" name="economy.svg" descr="economy.svg"/>
            <p:cNvPicPr>
              <a:picLocks noChangeAspect="1"/>
            </p:cNvPicPr>
            <p:nvPr/>
          </p:nvPicPr>
          <p:blipFill>
            <a:blip r:embed="rId4"/>
            <a:stretch>
              <a:fillRect/>
            </a:stretch>
          </p:blipFill>
          <p:spPr>
            <a:xfrm>
              <a:off x="257840" y="48075"/>
              <a:ext cx="546102" cy="546102"/>
            </a:xfrm>
            <a:prstGeom prst="rect">
              <a:avLst/>
            </a:prstGeom>
            <a:ln w="12700" cap="flat">
              <a:noFill/>
              <a:miter lim="400000"/>
            </a:ln>
            <a:effectLst/>
          </p:spPr>
        </p:pic>
      </p:gr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Google Shape;99;ga60ff6e4fc_1_0"/>
          <p:cNvSpPr txBox="1"/>
          <p:nvPr/>
        </p:nvSpPr>
        <p:spPr>
          <a:xfrm>
            <a:off x="425865" y="276979"/>
            <a:ext cx="10192206" cy="664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spAutoFit/>
          </a:bodyPr>
          <a:lstStyle>
            <a:lvl1pPr>
              <a:defRPr sz="3400" b="1">
                <a:solidFill>
                  <a:srgbClr val="11335F"/>
                </a:solidFill>
                <a:latin typeface="+mj-lt"/>
                <a:ea typeface="+mj-ea"/>
                <a:cs typeface="+mj-cs"/>
                <a:sym typeface="Arial"/>
              </a:defRPr>
            </a:lvl1pPr>
          </a:lstStyle>
          <a:p>
            <a:r>
              <a:t>Quantifying the Dual Narrative</a:t>
            </a:r>
          </a:p>
        </p:txBody>
      </p:sp>
      <p:sp>
        <p:nvSpPr>
          <p:cNvPr id="199" name="The DNA framework separates risk perception from managerial action, analyzing two critical sections of the 10-K filing."/>
          <p:cNvSpPr txBox="1"/>
          <p:nvPr/>
        </p:nvSpPr>
        <p:spPr>
          <a:xfrm>
            <a:off x="488176" y="957425"/>
            <a:ext cx="10371595" cy="5499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l">
              <a:defRPr sz="1600"/>
            </a:lvl1pPr>
          </a:lstStyle>
          <a:p>
            <a:r>
              <a:t>The DNA framework separates risk perception from managerial action, analyzing two critical sections of the 10-K filing.</a:t>
            </a:r>
          </a:p>
        </p:txBody>
      </p:sp>
      <p:grpSp>
        <p:nvGrpSpPr>
          <p:cNvPr id="202" name="Group"/>
          <p:cNvGrpSpPr/>
          <p:nvPr/>
        </p:nvGrpSpPr>
        <p:grpSpPr>
          <a:xfrm>
            <a:off x="1344191" y="1523753"/>
            <a:ext cx="9503620" cy="4436972"/>
            <a:chOff x="0" y="0"/>
            <a:chExt cx="9503618" cy="4436970"/>
          </a:xfrm>
        </p:grpSpPr>
        <p:pic>
          <p:nvPicPr>
            <p:cNvPr id="200" name="Screenshot 2025-10-14 at 14.00.38.png" descr="Screenshot 2025-10-14 at 14.00.38.png"/>
            <p:cNvPicPr>
              <a:picLocks noChangeAspect="1"/>
            </p:cNvPicPr>
            <p:nvPr/>
          </p:nvPicPr>
          <p:blipFill>
            <a:blip r:embed="rId2"/>
            <a:stretch>
              <a:fillRect/>
            </a:stretch>
          </p:blipFill>
          <p:spPr>
            <a:xfrm>
              <a:off x="0" y="-1"/>
              <a:ext cx="4411996" cy="4436972"/>
            </a:xfrm>
            <a:prstGeom prst="rect">
              <a:avLst/>
            </a:prstGeom>
            <a:ln w="12700" cap="flat">
              <a:noFill/>
              <a:miter lim="400000"/>
            </a:ln>
            <a:effectLst/>
          </p:spPr>
        </p:pic>
        <p:pic>
          <p:nvPicPr>
            <p:cNvPr id="201" name="Screenshot 2025-10-14 at 14.03.08.png" descr="Screenshot 2025-10-14 at 14.03.08.png"/>
            <p:cNvPicPr>
              <a:picLocks noChangeAspect="1"/>
            </p:cNvPicPr>
            <p:nvPr/>
          </p:nvPicPr>
          <p:blipFill>
            <a:blip r:embed="rId3"/>
            <a:srcRect l="1645" t="1645" r="1645" b="1645"/>
            <a:stretch>
              <a:fillRect/>
            </a:stretch>
          </p:blipFill>
          <p:spPr>
            <a:xfrm>
              <a:off x="4932525" y="1035"/>
              <a:ext cx="4571095" cy="4434900"/>
            </a:xfrm>
            <a:prstGeom prst="rect">
              <a:avLst/>
            </a:prstGeom>
            <a:ln w="12700" cap="flat">
              <a:noFill/>
              <a:miter lim="400000"/>
            </a:ln>
            <a:effectLst/>
          </p:spPr>
        </p:pic>
      </p:gr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Google Shape;99;ga60ff6e4fc_1_0"/>
          <p:cNvSpPr txBox="1"/>
          <p:nvPr/>
        </p:nvSpPr>
        <p:spPr>
          <a:xfrm>
            <a:off x="555405" y="311035"/>
            <a:ext cx="10192206" cy="664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spAutoFit/>
          </a:bodyPr>
          <a:lstStyle>
            <a:lvl1pPr>
              <a:defRPr sz="3400" b="1">
                <a:solidFill>
                  <a:srgbClr val="11335F"/>
                </a:solidFill>
                <a:latin typeface="+mj-lt"/>
                <a:ea typeface="+mj-ea"/>
                <a:cs typeface="+mj-cs"/>
                <a:sym typeface="Arial"/>
              </a:defRPr>
            </a:lvl1pPr>
          </a:lstStyle>
          <a:p>
            <a:r>
              <a:t>Case Study: COVID-19 Impact Score Trends</a:t>
            </a:r>
          </a:p>
        </p:txBody>
      </p:sp>
      <p:sp>
        <p:nvSpPr>
          <p:cNvPr id="205" name="Analysis of Item 1A Impact Scores (2020-2023) reveals a normalization in perceived risk over time among S&amp;P 500 firms."/>
          <p:cNvSpPr txBox="1"/>
          <p:nvPr/>
        </p:nvSpPr>
        <p:spPr>
          <a:xfrm>
            <a:off x="555405" y="975062"/>
            <a:ext cx="10371595" cy="5499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l">
              <a:defRPr sz="1600"/>
            </a:lvl1pPr>
          </a:lstStyle>
          <a:p>
            <a:r>
              <a:t>Analysis of Item 1A Impact Scores (2020-2023) reveals a normalization in perceived risk over time among S&amp;P 500 firms.</a:t>
            </a:r>
          </a:p>
        </p:txBody>
      </p:sp>
      <p:pic>
        <p:nvPicPr>
          <p:cNvPr id="206" name="Screenshot 2025-10-14 at 14.06.51.png" descr="Screenshot 2025-10-14 at 14.06.51.png"/>
          <p:cNvPicPr>
            <a:picLocks noChangeAspect="1"/>
          </p:cNvPicPr>
          <p:nvPr/>
        </p:nvPicPr>
        <p:blipFill>
          <a:blip r:embed="rId3"/>
          <a:stretch>
            <a:fillRect/>
          </a:stretch>
        </p:blipFill>
        <p:spPr>
          <a:xfrm>
            <a:off x="1309549" y="1524972"/>
            <a:ext cx="9572902" cy="4605752"/>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Google Shape;99;ga60ff6e4fc_1_0"/>
          <p:cNvSpPr txBox="1"/>
          <p:nvPr/>
        </p:nvSpPr>
        <p:spPr>
          <a:xfrm>
            <a:off x="616365" y="543679"/>
            <a:ext cx="10192206" cy="664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spAutoFit/>
          </a:bodyPr>
          <a:lstStyle>
            <a:lvl1pPr>
              <a:defRPr sz="3400" b="1">
                <a:solidFill>
                  <a:srgbClr val="11335F"/>
                </a:solidFill>
                <a:latin typeface="+mj-lt"/>
                <a:ea typeface="+mj-ea"/>
                <a:cs typeface="+mj-cs"/>
                <a:sym typeface="Arial"/>
              </a:defRPr>
            </a:lvl1pPr>
          </a:lstStyle>
          <a:p>
            <a:r>
              <a:t>Response Score: Signal of Management Quality</a:t>
            </a:r>
          </a:p>
        </p:txBody>
      </p:sp>
      <p:sp>
        <p:nvSpPr>
          <p:cNvPr id="211" name="The Response Score from Item 7 quantifies the intensity and quality of strategic managerial action."/>
          <p:cNvSpPr txBox="1"/>
          <p:nvPr/>
        </p:nvSpPr>
        <p:spPr>
          <a:xfrm>
            <a:off x="678676" y="1224125"/>
            <a:ext cx="10371595" cy="3327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l">
              <a:defRPr sz="1600"/>
            </a:lvl1pPr>
          </a:lstStyle>
          <a:p>
            <a:r>
              <a:t>The Response Score from Item 7 quantifies the intensity and quality of strategic managerial action.</a:t>
            </a:r>
          </a:p>
        </p:txBody>
      </p:sp>
      <p:pic>
        <p:nvPicPr>
          <p:cNvPr id="212" name="Screenshot 2025-10-14 at 14.07.25.png" descr="Screenshot 2025-10-14 at 14.07.25.png"/>
          <p:cNvPicPr>
            <a:picLocks noChangeAspect="1"/>
          </p:cNvPicPr>
          <p:nvPr/>
        </p:nvPicPr>
        <p:blipFill>
          <a:blip r:embed="rId3"/>
          <a:stretch>
            <a:fillRect/>
          </a:stretch>
        </p:blipFill>
        <p:spPr>
          <a:xfrm>
            <a:off x="182951" y="1556865"/>
            <a:ext cx="11826097" cy="4417215"/>
          </a:xfrm>
          <a:prstGeom prst="rect">
            <a:avLst/>
          </a:prstGeom>
          <a:ln w="12700">
            <a:miter lim="400000"/>
          </a:ln>
        </p:spPr>
      </p:pic>
      <p:sp>
        <p:nvSpPr>
          <p:cNvPr id="213" name="Rounded Rectangle 2"/>
          <p:cNvSpPr/>
          <p:nvPr/>
        </p:nvSpPr>
        <p:spPr>
          <a:xfrm>
            <a:off x="4954952" y="2070567"/>
            <a:ext cx="3055817" cy="180001"/>
          </a:xfrm>
          <a:prstGeom prst="roundRect">
            <a:avLst>
              <a:gd name="adj" fmla="val 16667"/>
            </a:avLst>
          </a:prstGeom>
          <a:ln w="19050">
            <a:solidFill>
              <a:srgbClr val="FF0000"/>
            </a:solidFill>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214" name="Rounded Rectangle 3"/>
          <p:cNvSpPr/>
          <p:nvPr/>
        </p:nvSpPr>
        <p:spPr>
          <a:xfrm>
            <a:off x="4130321" y="2290866"/>
            <a:ext cx="3159826" cy="180001"/>
          </a:xfrm>
          <a:prstGeom prst="roundRect">
            <a:avLst>
              <a:gd name="adj" fmla="val 16667"/>
            </a:avLst>
          </a:prstGeom>
          <a:ln w="19050">
            <a:solidFill>
              <a:srgbClr val="00B050"/>
            </a:solidFill>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215" name="Rounded Rectangle 4"/>
          <p:cNvSpPr/>
          <p:nvPr/>
        </p:nvSpPr>
        <p:spPr>
          <a:xfrm>
            <a:off x="7463970" y="2290865"/>
            <a:ext cx="700663" cy="180001"/>
          </a:xfrm>
          <a:prstGeom prst="roundRect">
            <a:avLst>
              <a:gd name="adj" fmla="val 16667"/>
            </a:avLst>
          </a:prstGeom>
          <a:ln w="19050">
            <a:solidFill>
              <a:srgbClr val="00B0F0"/>
            </a:solidFill>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216" name="Rounded Rectangle 5"/>
          <p:cNvSpPr/>
          <p:nvPr/>
        </p:nvSpPr>
        <p:spPr>
          <a:xfrm>
            <a:off x="4130321" y="2513809"/>
            <a:ext cx="1065793" cy="180001"/>
          </a:xfrm>
          <a:prstGeom prst="roundRect">
            <a:avLst>
              <a:gd name="adj" fmla="val 16667"/>
            </a:avLst>
          </a:prstGeom>
          <a:ln w="19050">
            <a:solidFill>
              <a:srgbClr val="00B0F0"/>
            </a:solidFill>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217" name="Rounded Rectangle 6"/>
          <p:cNvSpPr/>
          <p:nvPr/>
        </p:nvSpPr>
        <p:spPr>
          <a:xfrm>
            <a:off x="5458378" y="2508816"/>
            <a:ext cx="2749451" cy="180001"/>
          </a:xfrm>
          <a:prstGeom prst="roundRect">
            <a:avLst>
              <a:gd name="adj" fmla="val 16667"/>
            </a:avLst>
          </a:prstGeom>
          <a:ln w="19050">
            <a:solidFill>
              <a:srgbClr val="7030A0"/>
            </a:solidFill>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
        <p:nvSpPr>
          <p:cNvPr id="218" name="Rounded Rectangle 7"/>
          <p:cNvSpPr/>
          <p:nvPr/>
        </p:nvSpPr>
        <p:spPr>
          <a:xfrm>
            <a:off x="4130321" y="2736049"/>
            <a:ext cx="902508" cy="180001"/>
          </a:xfrm>
          <a:prstGeom prst="roundRect">
            <a:avLst>
              <a:gd name="adj" fmla="val 16667"/>
            </a:avLst>
          </a:prstGeom>
          <a:ln w="19050">
            <a:solidFill>
              <a:srgbClr val="7030A0"/>
            </a:solidFill>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Google Shape;99;ga60ff6e4fc_1_0"/>
          <p:cNvSpPr txBox="1"/>
          <p:nvPr/>
        </p:nvSpPr>
        <p:spPr>
          <a:xfrm>
            <a:off x="858865" y="264676"/>
            <a:ext cx="10192206" cy="6640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spAutoFit/>
          </a:bodyPr>
          <a:lstStyle>
            <a:lvl1pPr>
              <a:defRPr sz="3400" b="1">
                <a:solidFill>
                  <a:srgbClr val="11335F"/>
                </a:solidFill>
                <a:latin typeface="+mj-lt"/>
                <a:ea typeface="+mj-ea"/>
                <a:cs typeface="+mj-cs"/>
                <a:sym typeface="Arial"/>
              </a:defRPr>
            </a:lvl1pPr>
          </a:lstStyle>
          <a:p>
            <a:r>
              <a:t>Risk-Response-Driven Portfolio Strategy</a:t>
            </a:r>
          </a:p>
        </p:txBody>
      </p:sp>
      <p:sp>
        <p:nvSpPr>
          <p:cNvPr id="223" name="Companies that proactively disclose risk responses are signaling transparency and superior risk management capabilities."/>
          <p:cNvSpPr txBox="1"/>
          <p:nvPr/>
        </p:nvSpPr>
        <p:spPr>
          <a:xfrm>
            <a:off x="961539" y="938094"/>
            <a:ext cx="10371595" cy="5499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l">
              <a:defRPr sz="1600"/>
            </a:lvl1pPr>
          </a:lstStyle>
          <a:p>
            <a:r>
              <a:t>Companies that proactively disclose risk responses are signaling transparency and superior risk management capabilities.</a:t>
            </a:r>
          </a:p>
        </p:txBody>
      </p:sp>
      <p:grpSp>
        <p:nvGrpSpPr>
          <p:cNvPr id="226" name="Group"/>
          <p:cNvGrpSpPr/>
          <p:nvPr/>
        </p:nvGrpSpPr>
        <p:grpSpPr>
          <a:xfrm>
            <a:off x="1440442" y="1659432"/>
            <a:ext cx="9311117" cy="1270002"/>
            <a:chOff x="0" y="0"/>
            <a:chExt cx="9311115" cy="1270000"/>
          </a:xfrm>
        </p:grpSpPr>
        <p:sp>
          <p:nvSpPr>
            <p:cNvPr id="224" name="Rounded Rectangle"/>
            <p:cNvSpPr/>
            <p:nvPr/>
          </p:nvSpPr>
          <p:spPr>
            <a:xfrm>
              <a:off x="-1" y="0"/>
              <a:ext cx="9311117" cy="1270001"/>
            </a:xfrm>
            <a:prstGeom prst="roundRect">
              <a:avLst>
                <a:gd name="adj" fmla="val 15000"/>
              </a:avLst>
            </a:prstGeom>
            <a:solidFill>
              <a:srgbClr val="D1E4FD"/>
            </a:solidFill>
            <a:ln w="25400" cap="flat">
              <a:solidFill>
                <a:srgbClr val="000000"/>
              </a:solidFill>
              <a:custDash>
                <a:ds d="200000" sp="200000"/>
              </a:custDash>
              <a:miter lim="400000"/>
            </a:ln>
            <a:effectLst/>
          </p:spPr>
          <p:txBody>
            <a:bodyPr wrap="square" lIns="45718" tIns="45718" rIns="45718" bIns="45718" numCol="1" anchor="ctr">
              <a:noAutofit/>
            </a:bodyPr>
            <a:lstStyle/>
            <a:p>
              <a:pPr algn="ctr">
                <a:lnSpc>
                  <a:spcPct val="100000"/>
                </a:lnSpc>
                <a:spcBef>
                  <a:spcPts val="0"/>
                </a:spcBef>
                <a:defRPr sz="1400" b="1">
                  <a:latin typeface="+mj-lt"/>
                  <a:ea typeface="+mj-ea"/>
                  <a:cs typeface="+mj-cs"/>
                  <a:sym typeface="Arial"/>
                </a:defRPr>
              </a:pPr>
              <a:endParaRPr/>
            </a:p>
          </p:txBody>
        </p:sp>
        <p:sp>
          <p:nvSpPr>
            <p:cNvPr id="225" name="Hypothesis…"/>
            <p:cNvSpPr txBox="1"/>
            <p:nvPr/>
          </p:nvSpPr>
          <p:spPr>
            <a:xfrm>
              <a:off x="210175" y="112395"/>
              <a:ext cx="8890763" cy="98170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p>
              <a:pPr marL="406400" indent="-406400" algn="l">
                <a:lnSpc>
                  <a:spcPct val="100000"/>
                </a:lnSpc>
                <a:spcBef>
                  <a:spcPts val="2000"/>
                </a:spcBef>
                <a:defRPr b="1"/>
              </a:pPr>
              <a:r>
                <a:t>Hypothesis</a:t>
              </a:r>
            </a:p>
            <a:p>
              <a:pPr algn="l">
                <a:defRPr sz="1600"/>
              </a:pPr>
              <a:r>
                <a:t>Portfolios composed of companies with abundant (negative Response Scores) responses should systematically outperform portfolios with missing (positive/zero Response Scores) responses.</a:t>
              </a:r>
            </a:p>
          </p:txBody>
        </p:sp>
      </p:grpSp>
      <p:grpSp>
        <p:nvGrpSpPr>
          <p:cNvPr id="229" name="Group"/>
          <p:cNvGrpSpPr/>
          <p:nvPr/>
        </p:nvGrpSpPr>
        <p:grpSpPr>
          <a:xfrm>
            <a:off x="1440442" y="3128240"/>
            <a:ext cx="9311117" cy="1270002"/>
            <a:chOff x="0" y="0"/>
            <a:chExt cx="9311115" cy="1270000"/>
          </a:xfrm>
        </p:grpSpPr>
        <p:sp>
          <p:nvSpPr>
            <p:cNvPr id="227" name="Rounded Rectangle"/>
            <p:cNvSpPr/>
            <p:nvPr/>
          </p:nvSpPr>
          <p:spPr>
            <a:xfrm>
              <a:off x="-1" y="0"/>
              <a:ext cx="9311117" cy="1270001"/>
            </a:xfrm>
            <a:prstGeom prst="roundRect">
              <a:avLst>
                <a:gd name="adj" fmla="val 15000"/>
              </a:avLst>
            </a:prstGeom>
            <a:solidFill>
              <a:srgbClr val="D1E4FD"/>
            </a:solidFill>
            <a:ln w="25400" cap="flat">
              <a:solidFill>
                <a:srgbClr val="000000"/>
              </a:solidFill>
              <a:custDash>
                <a:ds d="200000" sp="200000"/>
              </a:custDash>
              <a:miter lim="400000"/>
            </a:ln>
            <a:effectLst/>
          </p:spPr>
          <p:txBody>
            <a:bodyPr wrap="square" lIns="45718" tIns="45718" rIns="45718" bIns="45718" numCol="1" anchor="ctr">
              <a:noAutofit/>
            </a:bodyPr>
            <a:lstStyle/>
            <a:p>
              <a:pPr algn="ctr">
                <a:lnSpc>
                  <a:spcPct val="100000"/>
                </a:lnSpc>
                <a:spcBef>
                  <a:spcPts val="0"/>
                </a:spcBef>
                <a:defRPr sz="1400" b="1">
                  <a:latin typeface="+mj-lt"/>
                  <a:ea typeface="+mj-ea"/>
                  <a:cs typeface="+mj-cs"/>
                  <a:sym typeface="Arial"/>
                </a:defRPr>
              </a:pPr>
              <a:endParaRPr/>
            </a:p>
          </p:txBody>
        </p:sp>
        <p:sp>
          <p:nvSpPr>
            <p:cNvPr id="228" name="Portfolio Construction…"/>
            <p:cNvSpPr txBox="1"/>
            <p:nvPr/>
          </p:nvSpPr>
          <p:spPr>
            <a:xfrm>
              <a:off x="210175" y="112395"/>
              <a:ext cx="8890763" cy="98170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p>
              <a:pPr marL="406400" indent="-406400" algn="l">
                <a:lnSpc>
                  <a:spcPct val="100000"/>
                </a:lnSpc>
                <a:spcBef>
                  <a:spcPts val="2000"/>
                </a:spcBef>
                <a:defRPr b="1"/>
              </a:pPr>
              <a:r>
                <a:t>Portfolio Construction</a:t>
              </a:r>
            </a:p>
            <a:p>
              <a:pPr algn="l">
                <a:defRPr sz="1600"/>
              </a:pPr>
              <a:r>
                <a:t>Two equal-weighted portfolios of 20 S&amp;P 500 stocks, rebalanced annually based on Response Score rank, avoiding look-ahead bias.</a:t>
              </a:r>
            </a:p>
          </p:txBody>
        </p:sp>
      </p:grpSp>
      <p:grpSp>
        <p:nvGrpSpPr>
          <p:cNvPr id="232" name="Group"/>
          <p:cNvGrpSpPr/>
          <p:nvPr/>
        </p:nvGrpSpPr>
        <p:grpSpPr>
          <a:xfrm>
            <a:off x="1440442" y="4597048"/>
            <a:ext cx="9311117" cy="1270002"/>
            <a:chOff x="0" y="0"/>
            <a:chExt cx="9311115" cy="1270000"/>
          </a:xfrm>
        </p:grpSpPr>
        <p:sp>
          <p:nvSpPr>
            <p:cNvPr id="230" name="Rounded Rectangle"/>
            <p:cNvSpPr/>
            <p:nvPr/>
          </p:nvSpPr>
          <p:spPr>
            <a:xfrm>
              <a:off x="-1" y="0"/>
              <a:ext cx="9311117" cy="1270001"/>
            </a:xfrm>
            <a:prstGeom prst="roundRect">
              <a:avLst>
                <a:gd name="adj" fmla="val 15000"/>
              </a:avLst>
            </a:prstGeom>
            <a:solidFill>
              <a:srgbClr val="D1E4FD"/>
            </a:solidFill>
            <a:ln w="25400" cap="flat">
              <a:solidFill>
                <a:srgbClr val="000000"/>
              </a:solidFill>
              <a:custDash>
                <a:ds d="200000" sp="200000"/>
              </a:custDash>
              <a:miter lim="400000"/>
            </a:ln>
            <a:effectLst/>
          </p:spPr>
          <p:txBody>
            <a:bodyPr wrap="square" lIns="45718" tIns="45718" rIns="45718" bIns="45718" numCol="1" anchor="ctr">
              <a:noAutofit/>
            </a:bodyPr>
            <a:lstStyle/>
            <a:p>
              <a:pPr algn="ctr">
                <a:lnSpc>
                  <a:spcPct val="100000"/>
                </a:lnSpc>
                <a:spcBef>
                  <a:spcPts val="0"/>
                </a:spcBef>
                <a:defRPr sz="1400" b="1">
                  <a:latin typeface="+mj-lt"/>
                  <a:ea typeface="+mj-ea"/>
                  <a:cs typeface="+mj-cs"/>
                  <a:sym typeface="Arial"/>
                </a:defRPr>
              </a:pPr>
              <a:endParaRPr/>
            </a:p>
          </p:txBody>
        </p:sp>
        <p:sp>
          <p:nvSpPr>
            <p:cNvPr id="231" name="Economic Rationale…"/>
            <p:cNvSpPr txBox="1"/>
            <p:nvPr/>
          </p:nvSpPr>
          <p:spPr>
            <a:xfrm>
              <a:off x="210175" y="112395"/>
              <a:ext cx="8890763" cy="98170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p>
              <a:pPr marL="406400" indent="-406400" algn="l">
                <a:lnSpc>
                  <a:spcPct val="100000"/>
                </a:lnSpc>
                <a:spcBef>
                  <a:spcPts val="2000"/>
                </a:spcBef>
                <a:defRPr b="1"/>
              </a:pPr>
              <a:r>
                <a:t>Economic Rationale</a:t>
              </a:r>
            </a:p>
            <a:p>
              <a:pPr algn="l">
                <a:defRPr sz="1600"/>
              </a:pPr>
              <a:r>
                <a:t>Disclosure signals management control and accountability, reducing information asymmetry and boosting investor confidence.</a:t>
              </a:r>
            </a:p>
          </p:txBody>
        </p:sp>
      </p:gr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Google Shape;99;ga60ff6e4fc_1_0"/>
          <p:cNvSpPr txBox="1"/>
          <p:nvPr/>
        </p:nvSpPr>
        <p:spPr>
          <a:xfrm>
            <a:off x="497778" y="254055"/>
            <a:ext cx="10192206" cy="664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spAutoFit/>
          </a:bodyPr>
          <a:lstStyle>
            <a:lvl1pPr>
              <a:defRPr sz="3400" b="1">
                <a:solidFill>
                  <a:srgbClr val="11335F"/>
                </a:solidFill>
                <a:latin typeface="+mj-lt"/>
                <a:ea typeface="+mj-ea"/>
                <a:cs typeface="+mj-cs"/>
                <a:sym typeface="Arial"/>
              </a:defRPr>
            </a:lvl1pPr>
          </a:lstStyle>
          <a:p>
            <a:r>
              <a:t>Empirical Results: Response Pays Off</a:t>
            </a:r>
          </a:p>
        </p:txBody>
      </p:sp>
      <p:sp>
        <p:nvSpPr>
          <p:cNvPr id="237" name="Backtesting (July 2021 – June 2025) strongly validates the core hypothesis, showing significant performance divergence."/>
          <p:cNvSpPr txBox="1"/>
          <p:nvPr/>
        </p:nvSpPr>
        <p:spPr>
          <a:xfrm>
            <a:off x="589832" y="990589"/>
            <a:ext cx="10371595" cy="5499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l">
              <a:defRPr sz="1600"/>
            </a:lvl1pPr>
          </a:lstStyle>
          <a:p>
            <a:r>
              <a:t>Backtesting (July 2021 – June 2025) strongly validates the core hypothesis, showing significant performance divergence.</a:t>
            </a:r>
          </a:p>
        </p:txBody>
      </p:sp>
      <p:pic>
        <p:nvPicPr>
          <p:cNvPr id="238" name="Screenshot 2025-11-06 at 19.10.22.png" descr="Screenshot 2025-11-06 at 19.10.22.png"/>
          <p:cNvPicPr>
            <a:picLocks noChangeAspect="1"/>
          </p:cNvPicPr>
          <p:nvPr/>
        </p:nvPicPr>
        <p:blipFill>
          <a:blip r:embed="rId3"/>
          <a:stretch>
            <a:fillRect/>
          </a:stretch>
        </p:blipFill>
        <p:spPr>
          <a:xfrm>
            <a:off x="667015" y="1613008"/>
            <a:ext cx="5570486" cy="4339014"/>
          </a:xfrm>
          <a:prstGeom prst="rect">
            <a:avLst/>
          </a:prstGeom>
          <a:ln w="12700">
            <a:miter lim="400000"/>
          </a:ln>
        </p:spPr>
      </p:pic>
      <p:sp>
        <p:nvSpPr>
          <p:cNvPr id="239" name="Google Shape;100;ga60ff6e4fc_1_0"/>
          <p:cNvSpPr txBox="1"/>
          <p:nvPr/>
        </p:nvSpPr>
        <p:spPr>
          <a:xfrm>
            <a:off x="9128158" y="1710014"/>
            <a:ext cx="2094492" cy="723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88900" tIns="88900" rIns="88900" bIns="88900" anchor="ctr">
            <a:spAutoFit/>
          </a:bodyPr>
          <a:lstStyle>
            <a:lvl1pPr marL="406400" indent="-406400" algn="ctr">
              <a:lnSpc>
                <a:spcPct val="100000"/>
              </a:lnSpc>
              <a:spcBef>
                <a:spcPts val="2000"/>
              </a:spcBef>
              <a:defRPr sz="3600" b="1"/>
            </a:lvl1pPr>
          </a:lstStyle>
          <a:p>
            <a:r>
              <a:t>3.75%</a:t>
            </a:r>
          </a:p>
        </p:txBody>
      </p:sp>
      <p:grpSp>
        <p:nvGrpSpPr>
          <p:cNvPr id="242" name="Group"/>
          <p:cNvGrpSpPr/>
          <p:nvPr/>
        </p:nvGrpSpPr>
        <p:grpSpPr>
          <a:xfrm>
            <a:off x="6538253" y="1710014"/>
            <a:ext cx="2289153" cy="1196677"/>
            <a:chOff x="0" y="0"/>
            <a:chExt cx="2289151" cy="1196676"/>
          </a:xfrm>
        </p:grpSpPr>
        <p:sp>
          <p:nvSpPr>
            <p:cNvPr id="240" name="Google Shape;100;ga60ff6e4fc_1_0"/>
            <p:cNvSpPr txBox="1"/>
            <p:nvPr/>
          </p:nvSpPr>
          <p:spPr>
            <a:xfrm>
              <a:off x="97328" y="-1"/>
              <a:ext cx="2094494" cy="7239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88900" tIns="88900" rIns="88900" bIns="88900" numCol="1" anchor="ctr">
              <a:spAutoFit/>
            </a:bodyPr>
            <a:lstStyle>
              <a:lvl1pPr marL="406400" indent="-406400" algn="ctr">
                <a:lnSpc>
                  <a:spcPct val="100000"/>
                </a:lnSpc>
                <a:spcBef>
                  <a:spcPts val="2000"/>
                </a:spcBef>
                <a:defRPr sz="3600" b="1"/>
              </a:lvl1pPr>
            </a:lstStyle>
            <a:p>
              <a:r>
                <a:t>13.78%</a:t>
              </a:r>
            </a:p>
          </p:txBody>
        </p:sp>
        <p:sp>
          <p:nvSpPr>
            <p:cNvPr id="241" name="With Response Annualized Return"/>
            <p:cNvSpPr txBox="1"/>
            <p:nvPr/>
          </p:nvSpPr>
          <p:spPr>
            <a:xfrm>
              <a:off x="0" y="646768"/>
              <a:ext cx="2289152" cy="54990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1600"/>
              </a:lvl1pPr>
            </a:lstStyle>
            <a:p>
              <a:r>
                <a:t>With Response Annualized Return</a:t>
              </a:r>
            </a:p>
          </p:txBody>
        </p:sp>
      </p:grpSp>
      <p:sp>
        <p:nvSpPr>
          <p:cNvPr id="243" name="Without Response Annualized Return"/>
          <p:cNvSpPr txBox="1"/>
          <p:nvPr/>
        </p:nvSpPr>
        <p:spPr>
          <a:xfrm>
            <a:off x="9030827" y="2356782"/>
            <a:ext cx="2289153" cy="5499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lvl1pPr algn="ctr">
              <a:defRPr sz="1600"/>
            </a:lvl1pPr>
          </a:lstStyle>
          <a:p>
            <a:r>
              <a:t>Without Response Annualized Return</a:t>
            </a:r>
          </a:p>
        </p:txBody>
      </p:sp>
      <p:grpSp>
        <p:nvGrpSpPr>
          <p:cNvPr id="246" name="Group"/>
          <p:cNvGrpSpPr/>
          <p:nvPr/>
        </p:nvGrpSpPr>
        <p:grpSpPr>
          <a:xfrm>
            <a:off x="6635583" y="3438157"/>
            <a:ext cx="2094492" cy="559775"/>
            <a:chOff x="0" y="0"/>
            <a:chExt cx="2094490" cy="559774"/>
          </a:xfrm>
        </p:grpSpPr>
        <p:sp>
          <p:nvSpPr>
            <p:cNvPr id="244" name="Google Shape;100;ga60ff6e4fc_1_0"/>
            <p:cNvSpPr/>
            <p:nvPr/>
          </p:nvSpPr>
          <p:spPr>
            <a:xfrm>
              <a:off x="0" y="0"/>
              <a:ext cx="209449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88900" tIns="88900" rIns="88900" bIns="88900" numCol="1" anchor="ctr">
              <a:spAutoFit/>
            </a:bodyPr>
            <a:lstStyle>
              <a:lvl1pPr marL="406400" indent="-406400" algn="ctr">
                <a:lnSpc>
                  <a:spcPct val="100000"/>
                </a:lnSpc>
                <a:spcBef>
                  <a:spcPts val="2000"/>
                </a:spcBef>
                <a:defRPr sz="3600" b="1"/>
              </a:lvl1pPr>
            </a:lstStyle>
            <a:p>
              <a:r>
                <a:t>0.75</a:t>
              </a:r>
            </a:p>
          </p:txBody>
        </p:sp>
        <p:sp>
          <p:nvSpPr>
            <p:cNvPr id="245" name="With Response Sharp Ratio"/>
            <p:cNvSpPr/>
            <p:nvPr/>
          </p:nvSpPr>
          <p:spPr>
            <a:xfrm>
              <a:off x="29406" y="559774"/>
              <a:ext cx="2035679"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1600"/>
              </a:lvl1pPr>
            </a:lstStyle>
            <a:p>
              <a:r>
                <a:t>With Response Sharp Ratio</a:t>
              </a:r>
            </a:p>
          </p:txBody>
        </p:sp>
      </p:grpSp>
      <p:grpSp>
        <p:nvGrpSpPr>
          <p:cNvPr id="249" name="Group"/>
          <p:cNvGrpSpPr/>
          <p:nvPr/>
        </p:nvGrpSpPr>
        <p:grpSpPr>
          <a:xfrm>
            <a:off x="9128158" y="3438157"/>
            <a:ext cx="2094492" cy="559775"/>
            <a:chOff x="0" y="0"/>
            <a:chExt cx="2094490" cy="559774"/>
          </a:xfrm>
        </p:grpSpPr>
        <p:sp>
          <p:nvSpPr>
            <p:cNvPr id="247" name="Google Shape;100;ga60ff6e4fc_1_0"/>
            <p:cNvSpPr/>
            <p:nvPr/>
          </p:nvSpPr>
          <p:spPr>
            <a:xfrm>
              <a:off x="0" y="0"/>
              <a:ext cx="209449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88900" tIns="88900" rIns="88900" bIns="88900" numCol="1" anchor="ctr">
              <a:spAutoFit/>
            </a:bodyPr>
            <a:lstStyle>
              <a:lvl1pPr marL="406400" indent="-406400" algn="ctr">
                <a:lnSpc>
                  <a:spcPct val="100000"/>
                </a:lnSpc>
                <a:spcBef>
                  <a:spcPts val="2000"/>
                </a:spcBef>
                <a:defRPr sz="3600" b="1"/>
              </a:lvl1pPr>
            </a:lstStyle>
            <a:p>
              <a:r>
                <a:t>0.23</a:t>
              </a:r>
            </a:p>
          </p:txBody>
        </p:sp>
        <p:sp>
          <p:nvSpPr>
            <p:cNvPr id="248" name="Without Response Sharp Ratio"/>
            <p:cNvSpPr/>
            <p:nvPr/>
          </p:nvSpPr>
          <p:spPr>
            <a:xfrm>
              <a:off x="29406" y="559774"/>
              <a:ext cx="2035679"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1600"/>
              </a:lvl1pPr>
            </a:lstStyle>
            <a:p>
              <a:r>
                <a:t>Without Response Sharp Ratio</a:t>
              </a:r>
            </a:p>
          </p:txBody>
        </p:sp>
      </p:grpSp>
      <p:sp>
        <p:nvSpPr>
          <p:cNvPr id="250" name="The &quot;With Response&quot; group outperformed the &quot;Without Response&quot; group by more than three times in annualized returns, demonstrating superior risk-adjusted performance."/>
          <p:cNvSpPr txBox="1"/>
          <p:nvPr/>
        </p:nvSpPr>
        <p:spPr>
          <a:xfrm>
            <a:off x="6855710" y="4694826"/>
            <a:ext cx="4854930" cy="9842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p>
            <a:pPr algn="l">
              <a:defRPr sz="1600" i="1"/>
            </a:pPr>
            <a:r>
              <a:t>The "With Response" group outperformed the "Without Response" group by more than </a:t>
            </a:r>
            <a:r>
              <a:rPr b="1"/>
              <a:t>three times</a:t>
            </a:r>
            <a:r>
              <a:t> in annualized returns, demonstrating superior risk-adjusted performance.</a:t>
            </a:r>
          </a:p>
        </p:txBody>
      </p:sp>
      <p:sp>
        <p:nvSpPr>
          <p:cNvPr id="251" name="Rectangle"/>
          <p:cNvSpPr/>
          <p:nvPr/>
        </p:nvSpPr>
        <p:spPr>
          <a:xfrm>
            <a:off x="6635583" y="4615450"/>
            <a:ext cx="15468" cy="1143002"/>
          </a:xfrm>
          <a:prstGeom prst="rect">
            <a:avLst/>
          </a:prstGeom>
          <a:solidFill>
            <a:srgbClr val="000000"/>
          </a:solidFill>
          <a:ln w="12700">
            <a:miter lim="400000"/>
          </a:ln>
        </p:spPr>
        <p:txBody>
          <a:bodyPr lIns="45718" tIns="45718" rIns="45718" bIns="45718" anchor="ctr"/>
          <a:lstStyle/>
          <a:p>
            <a:pPr algn="ctr">
              <a:lnSpc>
                <a:spcPct val="100000"/>
              </a:lnSpc>
              <a:spcBef>
                <a:spcPts val="0"/>
              </a:spcBef>
              <a:defRPr sz="1400" b="1">
                <a:latin typeface="+mj-lt"/>
                <a:ea typeface="+mj-ea"/>
                <a:cs typeface="+mj-cs"/>
                <a:sym typeface="Arial"/>
              </a:defRPr>
            </a:pPr>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Google Shape;99;ga60ff6e4fc_1_0"/>
          <p:cNvSpPr txBox="1"/>
          <p:nvPr/>
        </p:nvSpPr>
        <p:spPr>
          <a:xfrm>
            <a:off x="497777" y="254055"/>
            <a:ext cx="10925187" cy="6640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spAutoFit/>
          </a:bodyPr>
          <a:lstStyle>
            <a:lvl1pPr>
              <a:defRPr sz="3400" b="1">
                <a:solidFill>
                  <a:srgbClr val="11335F"/>
                </a:solidFill>
                <a:latin typeface="+mj-lt"/>
                <a:ea typeface="+mj-ea"/>
                <a:cs typeface="+mj-cs"/>
                <a:sym typeface="Arial"/>
              </a:defRPr>
            </a:lvl1pPr>
          </a:lstStyle>
          <a:p>
            <a:r>
              <a:t>Conclusion: Bridging Disclosure and Asset Pricing</a:t>
            </a:r>
          </a:p>
        </p:txBody>
      </p:sp>
      <p:pic>
        <p:nvPicPr>
          <p:cNvPr id="256" name="pasted-movie.png" descr="pasted-movie.png"/>
          <p:cNvPicPr>
            <a:picLocks noChangeAspect="1"/>
          </p:cNvPicPr>
          <p:nvPr/>
        </p:nvPicPr>
        <p:blipFill>
          <a:blip r:embed="rId3"/>
          <a:stretch>
            <a:fillRect/>
          </a:stretch>
        </p:blipFill>
        <p:spPr>
          <a:xfrm>
            <a:off x="692150" y="1263650"/>
            <a:ext cx="927100" cy="1358900"/>
          </a:xfrm>
          <a:prstGeom prst="rect">
            <a:avLst/>
          </a:prstGeom>
          <a:ln w="12700">
            <a:miter lim="400000"/>
          </a:ln>
        </p:spPr>
      </p:pic>
      <p:pic>
        <p:nvPicPr>
          <p:cNvPr id="257" name="pasted-movie.png" descr="pasted-movie.png"/>
          <p:cNvPicPr>
            <a:picLocks noChangeAspect="1"/>
          </p:cNvPicPr>
          <p:nvPr/>
        </p:nvPicPr>
        <p:blipFill>
          <a:blip r:embed="rId4"/>
          <a:stretch>
            <a:fillRect/>
          </a:stretch>
        </p:blipFill>
        <p:spPr>
          <a:xfrm>
            <a:off x="692150" y="2641600"/>
            <a:ext cx="927100" cy="1346200"/>
          </a:xfrm>
          <a:prstGeom prst="rect">
            <a:avLst/>
          </a:prstGeom>
          <a:ln w="12700">
            <a:miter lim="400000"/>
          </a:ln>
        </p:spPr>
      </p:pic>
      <p:pic>
        <p:nvPicPr>
          <p:cNvPr id="258" name="pasted-movie.png" descr="pasted-movie.png"/>
          <p:cNvPicPr>
            <a:picLocks noChangeAspect="1"/>
          </p:cNvPicPr>
          <p:nvPr/>
        </p:nvPicPr>
        <p:blipFill>
          <a:blip r:embed="rId5"/>
          <a:stretch>
            <a:fillRect/>
          </a:stretch>
        </p:blipFill>
        <p:spPr>
          <a:xfrm>
            <a:off x="692150" y="4006850"/>
            <a:ext cx="927100" cy="1358900"/>
          </a:xfrm>
          <a:prstGeom prst="rect">
            <a:avLst/>
          </a:prstGeom>
          <a:ln w="12700">
            <a:miter lim="400000"/>
          </a:ln>
        </p:spPr>
      </p:pic>
      <p:sp>
        <p:nvSpPr>
          <p:cNvPr id="259" name="Novel Framework…"/>
          <p:cNvSpPr txBox="1"/>
          <p:nvPr/>
        </p:nvSpPr>
        <p:spPr>
          <a:xfrm>
            <a:off x="1966254" y="1331595"/>
            <a:ext cx="5334721" cy="10452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p>
            <a:pPr marL="406400" indent="-406400" algn="l">
              <a:lnSpc>
                <a:spcPct val="100000"/>
              </a:lnSpc>
              <a:spcBef>
                <a:spcPts val="2000"/>
              </a:spcBef>
              <a:defRPr sz="2400" b="1"/>
            </a:pPr>
            <a:r>
              <a:t>Novel Framework</a:t>
            </a:r>
          </a:p>
          <a:p>
            <a:pPr algn="l">
              <a:defRPr sz="1600"/>
            </a:pPr>
            <a:r>
              <a:t>DNA with CoT provides a verifiable method for deep semantic analysis of 10-K narratives.</a:t>
            </a:r>
          </a:p>
        </p:txBody>
      </p:sp>
      <p:sp>
        <p:nvSpPr>
          <p:cNvPr id="260" name="Dual Narrative…"/>
          <p:cNvSpPr txBox="1"/>
          <p:nvPr/>
        </p:nvSpPr>
        <p:spPr>
          <a:xfrm>
            <a:off x="1966254" y="2715260"/>
            <a:ext cx="5334721" cy="10452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p>
            <a:pPr marL="406400" indent="-406400" algn="l">
              <a:lnSpc>
                <a:spcPct val="100000"/>
              </a:lnSpc>
              <a:spcBef>
                <a:spcPts val="2000"/>
              </a:spcBef>
              <a:defRPr sz="2400" b="1"/>
            </a:pPr>
            <a:r>
              <a:t>Dual Narrative</a:t>
            </a:r>
          </a:p>
          <a:p>
            <a:pPr algn="l">
              <a:defRPr sz="1600"/>
            </a:pPr>
            <a:r>
              <a:t>Successfully quantified the structural divergence between Item 1A (Risk) and Item 7 (Response).</a:t>
            </a:r>
          </a:p>
        </p:txBody>
      </p:sp>
      <p:sp>
        <p:nvSpPr>
          <p:cNvPr id="261" name="Economic Value…"/>
          <p:cNvSpPr txBox="1"/>
          <p:nvPr/>
        </p:nvSpPr>
        <p:spPr>
          <a:xfrm>
            <a:off x="1966254" y="4098924"/>
            <a:ext cx="5334721" cy="10452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spAutoFit/>
          </a:bodyPr>
          <a:lstStyle/>
          <a:p>
            <a:pPr marL="406400" indent="-406400" algn="l">
              <a:lnSpc>
                <a:spcPct val="100000"/>
              </a:lnSpc>
              <a:spcBef>
                <a:spcPts val="2000"/>
              </a:spcBef>
              <a:defRPr sz="2400" b="1"/>
            </a:pPr>
            <a:r>
              <a:t>Economic Value</a:t>
            </a:r>
          </a:p>
          <a:p>
            <a:pPr algn="l">
              <a:defRPr sz="1600"/>
            </a:pPr>
            <a:r>
              <a:t>Response Scores capture market inefficiency, generating significant excess returns for portfolio strategies.</a:t>
            </a:r>
          </a:p>
        </p:txBody>
      </p:sp>
      <p:grpSp>
        <p:nvGrpSpPr>
          <p:cNvPr id="265" name="Group"/>
          <p:cNvGrpSpPr/>
          <p:nvPr/>
        </p:nvGrpSpPr>
        <p:grpSpPr>
          <a:xfrm>
            <a:off x="7647978" y="3673538"/>
            <a:ext cx="4188425" cy="1895984"/>
            <a:chOff x="0" y="0"/>
            <a:chExt cx="4188424" cy="1895982"/>
          </a:xfrm>
        </p:grpSpPr>
        <p:pic>
          <p:nvPicPr>
            <p:cNvPr id="262" name="pasted-movie.png" descr="pasted-movie.png"/>
            <p:cNvPicPr>
              <a:picLocks noChangeAspect="1"/>
            </p:cNvPicPr>
            <p:nvPr/>
          </p:nvPicPr>
          <p:blipFill>
            <a:blip r:embed="rId6"/>
            <a:stretch>
              <a:fillRect/>
            </a:stretch>
          </p:blipFill>
          <p:spPr>
            <a:xfrm>
              <a:off x="-1" y="0"/>
              <a:ext cx="4188426" cy="1895983"/>
            </a:xfrm>
            <a:prstGeom prst="rect">
              <a:avLst/>
            </a:prstGeom>
            <a:ln w="12700" cap="flat">
              <a:noFill/>
              <a:miter lim="400000"/>
            </a:ln>
            <a:effectLst/>
          </p:spPr>
        </p:pic>
        <p:pic>
          <p:nvPicPr>
            <p:cNvPr id="263" name="pasted-movie.png" descr="pasted-movie.png"/>
            <p:cNvPicPr>
              <a:picLocks noChangeAspect="1"/>
            </p:cNvPicPr>
            <p:nvPr/>
          </p:nvPicPr>
          <p:blipFill>
            <a:blip r:embed="rId7"/>
            <a:stretch>
              <a:fillRect/>
            </a:stretch>
          </p:blipFill>
          <p:spPr>
            <a:xfrm>
              <a:off x="246360" y="335344"/>
              <a:ext cx="292102" cy="228602"/>
            </a:xfrm>
            <a:prstGeom prst="rect">
              <a:avLst/>
            </a:prstGeom>
            <a:ln w="12700" cap="flat">
              <a:noFill/>
              <a:miter lim="400000"/>
            </a:ln>
            <a:effectLst/>
          </p:spPr>
        </p:pic>
        <p:sp>
          <p:nvSpPr>
            <p:cNvPr id="264" name="Future Work…"/>
            <p:cNvSpPr txBox="1"/>
            <p:nvPr/>
          </p:nvSpPr>
          <p:spPr>
            <a:xfrm>
              <a:off x="579376" y="208215"/>
              <a:ext cx="3228904" cy="147954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p>
              <a:pPr marL="406400" indent="-406400" algn="l">
                <a:lnSpc>
                  <a:spcPct val="100000"/>
                </a:lnSpc>
                <a:spcBef>
                  <a:spcPts val="2000"/>
                </a:spcBef>
                <a:defRPr sz="2400" b="1"/>
              </a:pPr>
              <a:r>
                <a:t>Future Work</a:t>
              </a:r>
            </a:p>
            <a:p>
              <a:pPr algn="l">
                <a:defRPr sz="1600"/>
              </a:pPr>
              <a:r>
                <a:t>Response Scores capture market inefficiency, generating significant excess returns for portfolio strategies.</a:t>
              </a:r>
            </a:p>
          </p:txBody>
        </p:sp>
      </p:grpSp>
      <p:pic>
        <p:nvPicPr>
          <p:cNvPr id="266" name="rocket.svg" descr="rocket.svg"/>
          <p:cNvPicPr>
            <a:picLocks noChangeAspect="1"/>
          </p:cNvPicPr>
          <p:nvPr/>
        </p:nvPicPr>
        <p:blipFill>
          <a:blip r:embed="rId8"/>
          <a:stretch>
            <a:fillRect/>
          </a:stretch>
        </p:blipFill>
        <p:spPr>
          <a:xfrm>
            <a:off x="8741891" y="1295511"/>
            <a:ext cx="2000598" cy="2000599"/>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Thank you!…"/>
          <p:cNvSpPr txBox="1"/>
          <p:nvPr/>
        </p:nvSpPr>
        <p:spPr>
          <a:xfrm>
            <a:off x="589416" y="325509"/>
            <a:ext cx="4241115" cy="26822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nchor="ctr">
            <a:spAutoFit/>
          </a:bodyPr>
          <a:lstStyle/>
          <a:p>
            <a:pPr algn="ctr">
              <a:lnSpc>
                <a:spcPct val="100000"/>
              </a:lnSpc>
              <a:spcBef>
                <a:spcPts val="0"/>
              </a:spcBef>
              <a:defRPr sz="6600">
                <a:latin typeface="Comic Sans MS"/>
                <a:ea typeface="Comic Sans MS"/>
                <a:cs typeface="Comic Sans MS"/>
                <a:sym typeface="Comic Sans MS"/>
              </a:defRPr>
            </a:pPr>
            <a:r>
              <a:t>Thank you!</a:t>
            </a:r>
          </a:p>
          <a:p>
            <a:pPr algn="ctr">
              <a:lnSpc>
                <a:spcPct val="120000"/>
              </a:lnSpc>
              <a:spcBef>
                <a:spcPts val="2000"/>
              </a:spcBef>
              <a:defRPr sz="6600">
                <a:latin typeface="Comic Sans MS"/>
                <a:ea typeface="Comic Sans MS"/>
                <a:cs typeface="Comic Sans MS"/>
                <a:sym typeface="Comic Sans MS"/>
              </a:defRPr>
            </a:pPr>
            <a:r>
              <a:t>Q&amp;A</a:t>
            </a:r>
          </a:p>
        </p:txBody>
      </p:sp>
      <p:sp>
        <p:nvSpPr>
          <p:cNvPr id="271" name="Google Shape;94;p1"/>
          <p:cNvSpPr txBox="1"/>
          <p:nvPr/>
        </p:nvSpPr>
        <p:spPr>
          <a:xfrm>
            <a:off x="5419552" y="979186"/>
            <a:ext cx="5785156" cy="16941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nchor="ctr">
            <a:spAutoFit/>
          </a:bodyPr>
          <a:lstStyle/>
          <a:p>
            <a:pPr algn="l">
              <a:lnSpc>
                <a:spcPct val="120000"/>
              </a:lnSpc>
              <a:spcBef>
                <a:spcPts val="0"/>
              </a:spcBef>
              <a:defRPr sz="2500" b="1">
                <a:latin typeface="Comic Sans MS"/>
                <a:ea typeface="Comic Sans MS"/>
                <a:cs typeface="Comic Sans MS"/>
                <a:sym typeface="Comic Sans MS"/>
              </a:defRPr>
            </a:pPr>
            <a:r>
              <a:t>“Two Sides of the Same Coin”: </a:t>
            </a:r>
          </a:p>
          <a:p>
            <a:pPr algn="l">
              <a:lnSpc>
                <a:spcPct val="120000"/>
              </a:lnSpc>
              <a:spcBef>
                <a:spcPts val="0"/>
              </a:spcBef>
              <a:defRPr sz="2500">
                <a:latin typeface="Comic Sans MS"/>
                <a:ea typeface="Comic Sans MS"/>
                <a:cs typeface="Comic Sans MS"/>
                <a:sym typeface="Comic Sans MS"/>
              </a:defRPr>
            </a:pPr>
            <a:r>
              <a:t>How LLMs Reveal Dual Narratives in Annual Reports</a:t>
            </a:r>
          </a:p>
        </p:txBody>
      </p:sp>
      <p:sp>
        <p:nvSpPr>
          <p:cNvPr id="272" name="Google Shape;94;p1"/>
          <p:cNvSpPr txBox="1"/>
          <p:nvPr/>
        </p:nvSpPr>
        <p:spPr>
          <a:xfrm>
            <a:off x="5312747" y="2924085"/>
            <a:ext cx="6338956" cy="2484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3" tIns="91423" rIns="91423" bIns="91423" anchor="ctr">
            <a:spAutoFit/>
          </a:bodyPr>
          <a:lstStyle/>
          <a:p>
            <a:pPr algn="l">
              <a:lnSpc>
                <a:spcPct val="120000"/>
              </a:lnSpc>
              <a:spcBef>
                <a:spcPts val="0"/>
              </a:spcBef>
              <a:defRPr sz="2500" b="1">
                <a:solidFill>
                  <a:schemeClr val="accent5">
                    <a:satOff val="-19091"/>
                    <a:lumOff val="-11921"/>
                  </a:schemeClr>
                </a:solidFill>
              </a:defRPr>
            </a:pPr>
            <a:r>
              <a:t>Author</a:t>
            </a:r>
            <a:r>
              <a:rPr b="0">
                <a:solidFill>
                  <a:srgbClr val="000000"/>
                </a:solidFill>
              </a:rPr>
              <a:t>：</a:t>
            </a:r>
            <a:r>
              <a:rPr i="1">
                <a:solidFill>
                  <a:srgbClr val="000000"/>
                </a:solidFill>
              </a:rPr>
              <a:t>Xiao Li</a:t>
            </a:r>
            <a:r>
              <a:rPr b="0" i="1">
                <a:solidFill>
                  <a:srgbClr val="000000"/>
                </a:solidFill>
              </a:rPr>
              <a:t>, </a:t>
            </a:r>
            <a:r>
              <a:rPr b="0">
                <a:solidFill>
                  <a:srgbClr val="000000"/>
                </a:solidFill>
              </a:rPr>
              <a:t>Changhong Jin, Yingjie Niu, and Ruihai Dong</a:t>
            </a:r>
          </a:p>
          <a:p>
            <a:pPr lvl="1" algn="l">
              <a:lnSpc>
                <a:spcPct val="120000"/>
              </a:lnSpc>
              <a:spcBef>
                <a:spcPts val="0"/>
              </a:spcBef>
              <a:defRPr sz="2500" b="1">
                <a:solidFill>
                  <a:schemeClr val="accent5">
                    <a:satOff val="-19091"/>
                    <a:lumOff val="-11921"/>
                  </a:schemeClr>
                </a:solidFill>
              </a:defRPr>
            </a:pPr>
            <a:r>
              <a:t>Contact</a:t>
            </a:r>
            <a:r>
              <a:rPr b="0">
                <a:solidFill>
                  <a:srgbClr val="000000"/>
                </a:solidFill>
              </a:rPr>
              <a:t>: </a:t>
            </a:r>
            <a:r>
              <a:rPr b="0" u="sng">
                <a:solidFill>
                  <a:srgbClr val="0000FF"/>
                </a:solidFill>
                <a:uFill>
                  <a:solidFill>
                    <a:srgbClr val="0000FF"/>
                  </a:solidFill>
                </a:uFill>
                <a:hlinkClick r:id="rId2"/>
              </a:rPr>
              <a:t>xiao.li@ucdconnect.ie</a:t>
            </a:r>
          </a:p>
          <a:p>
            <a:pPr lvl="1" algn="l">
              <a:lnSpc>
                <a:spcPct val="120000"/>
              </a:lnSpc>
              <a:spcBef>
                <a:spcPts val="0"/>
              </a:spcBef>
              <a:defRPr sz="2500" b="1">
                <a:solidFill>
                  <a:schemeClr val="accent5">
                    <a:satOff val="-19091"/>
                    <a:lumOff val="-11921"/>
                  </a:schemeClr>
                </a:solidFill>
              </a:defRPr>
            </a:pPr>
            <a:r>
              <a:t>Event</a:t>
            </a:r>
            <a:r>
              <a:rPr b="0">
                <a:solidFill>
                  <a:srgbClr val="000000"/>
                </a:solidFill>
              </a:rPr>
              <a:t>: ICAIF 2025</a:t>
            </a:r>
          </a:p>
          <a:p>
            <a:pPr lvl="1" algn="l">
              <a:lnSpc>
                <a:spcPct val="120000"/>
              </a:lnSpc>
              <a:spcBef>
                <a:spcPts val="0"/>
              </a:spcBef>
              <a:defRPr sz="2500" b="1">
                <a:solidFill>
                  <a:schemeClr val="accent5">
                    <a:satOff val="-19091"/>
                    <a:lumOff val="-11921"/>
                  </a:schemeClr>
                </a:solidFill>
              </a:defRPr>
            </a:pPr>
            <a:r>
              <a:t>Date</a:t>
            </a:r>
            <a:r>
              <a:rPr b="0">
                <a:solidFill>
                  <a:srgbClr val="000000"/>
                </a:solidFill>
              </a:rPr>
              <a:t>: Nov 15-18, 2025</a:t>
            </a:r>
          </a:p>
        </p:txBody>
      </p:sp>
      <p:pic>
        <p:nvPicPr>
          <p:cNvPr id="273" name="thanks.svg" descr="thanks.svg"/>
          <p:cNvPicPr>
            <a:picLocks noChangeAspect="1"/>
          </p:cNvPicPr>
          <p:nvPr/>
        </p:nvPicPr>
        <p:blipFill>
          <a:blip r:embed="rId3"/>
          <a:stretch>
            <a:fillRect/>
          </a:stretch>
        </p:blipFill>
        <p:spPr>
          <a:xfrm>
            <a:off x="1144425" y="2887673"/>
            <a:ext cx="3131098" cy="3131098"/>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just" defTabSz="914400" rtl="0" fontAlgn="auto" latinLnBrk="0" hangingPunct="0">
          <a:lnSpc>
            <a:spcPct val="90000"/>
          </a:lnSpc>
          <a:spcBef>
            <a:spcPts val="1000"/>
          </a:spcBef>
          <a:spcAft>
            <a:spcPts val="0"/>
          </a:spcAft>
          <a:buClrTx/>
          <a:buSzTx/>
          <a:buFontTx/>
          <a:buNone/>
          <a:tabLst/>
          <a:defRPr kumimoji="0" sz="20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TotalTime>
  <Words>3056</Words>
  <Application>Microsoft Macintosh PowerPoint</Application>
  <PresentationFormat>Widescreen</PresentationFormat>
  <Paragraphs>228</Paragraphs>
  <Slides>14</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Office Theme</vt:lpstr>
      <vt:lpstr>Two Sides of the Same Coin: How LLMs Reveal Dual Narratives in Annual Reports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Xiao Li</cp:lastModifiedBy>
  <cp:revision>3</cp:revision>
  <dcterms:modified xsi:type="dcterms:W3CDTF">2025-11-18T08:50:28Z</dcterms:modified>
</cp:coreProperties>
</file>